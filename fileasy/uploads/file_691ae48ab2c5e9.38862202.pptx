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22.xml"/>
  <Override ContentType="application/vnd.openxmlformats-officedocument.presentationml.slide+xml" PartName="/ppt/slides/slide23.xml"/>
  <Override ContentType="application/vnd.openxmlformats-officedocument.presentationml.slide+xml" PartName="/ppt/slides/slide24.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Lst>
  <p:sldSz cx="18288000" cy="10287000"/>
  <p:notesSz cx="6858000" cy="9144000"/>
  <p:embeddedFontLst>
    <p:embeddedFont>
      <p:font typeface="Proxima Nova Bold" charset="1" panose="02000506030000020004"/>
      <p:regular r:id="rId30"/>
    </p:embeddedFont>
    <p:embeddedFont>
      <p:font typeface="Nunito" charset="1" panose="00000000000000000000"/>
      <p:regular r:id="rId31"/>
    </p:embeddedFont>
    <p:embeddedFont>
      <p:font typeface="Nunito Bold" charset="1" panose="00000000000000000000"/>
      <p:regular r:id="rId32"/>
    </p:embeddedFont>
    <p:embeddedFont>
      <p:font typeface="Canva Sans Bold" charset="1" panose="020B0803030501040103"/>
      <p:regular r:id="rId33"/>
    </p:embeddedFont>
    <p:embeddedFont>
      <p:font typeface="Canva Sans Bold Italics" charset="1" panose="020B0803030501040103"/>
      <p:regular r:id="rId34"/>
    </p:embeddedFont>
    <p:embeddedFont>
      <p:font typeface="Nunito Bold Italics" charset="1" panose="00000000000000000000"/>
      <p:regular r:id="rId35"/>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slides/slide18.xml" Type="http://schemas.openxmlformats.org/officeDocument/2006/relationships/slide"/><Relationship Id="rId24" Target="slides/slide19.xml" Type="http://schemas.openxmlformats.org/officeDocument/2006/relationships/slide"/><Relationship Id="rId25" Target="slides/slide20.xml" Type="http://schemas.openxmlformats.org/officeDocument/2006/relationships/slide"/><Relationship Id="rId26" Target="slides/slide21.xml" Type="http://schemas.openxmlformats.org/officeDocument/2006/relationships/slide"/><Relationship Id="rId27" Target="slides/slide22.xml" Type="http://schemas.openxmlformats.org/officeDocument/2006/relationships/slide"/><Relationship Id="rId28" Target="slides/slide23.xml" Type="http://schemas.openxmlformats.org/officeDocument/2006/relationships/slide"/><Relationship Id="rId29" Target="slides/slide24.xml" Type="http://schemas.openxmlformats.org/officeDocument/2006/relationships/slide"/><Relationship Id="rId3" Target="viewProps.xml" Type="http://schemas.openxmlformats.org/officeDocument/2006/relationships/viewProps"/><Relationship Id="rId30" Target="fonts/font30.fntdata" Type="http://schemas.openxmlformats.org/officeDocument/2006/relationships/font"/><Relationship Id="rId31" Target="fonts/font31.fntdata" Type="http://schemas.openxmlformats.org/officeDocument/2006/relationships/font"/><Relationship Id="rId32" Target="fonts/font32.fntdata" Type="http://schemas.openxmlformats.org/officeDocument/2006/relationships/font"/><Relationship Id="rId33" Target="fonts/font33.fntdata" Type="http://schemas.openxmlformats.org/officeDocument/2006/relationships/font"/><Relationship Id="rId34" Target="fonts/font34.fntdata" Type="http://schemas.openxmlformats.org/officeDocument/2006/relationships/font"/><Relationship Id="rId35" Target="fonts/font35.fntdata" Type="http://schemas.openxmlformats.org/officeDocument/2006/relationships/font"/><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4.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5.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6.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7.pn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8.png" Type="http://schemas.openxmlformats.org/officeDocument/2006/relationships/image"/></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_rels/slide1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9.png" Type="http://schemas.openxmlformats.org/officeDocument/2006/relationships/image"/></Relationships>
</file>

<file path=ppt/slides/_rels/slide2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_rels/slide2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10.png" Type="http://schemas.openxmlformats.org/officeDocument/2006/relationships/image"/></Relationships>
</file>

<file path=ppt/slides/_rels/slide2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_rels/slide2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11.png" Type="http://schemas.openxmlformats.org/officeDocument/2006/relationships/image"/></Relationships>
</file>

<file path=ppt/slides/_rels/slide2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A6A6A6">
                <a:alpha val="100000"/>
              </a:srgbClr>
            </a:gs>
            <a:gs pos="100000">
              <a:srgbClr val="FFFFFF">
                <a:alpha val="100000"/>
              </a:srgbClr>
            </a:gs>
          </a:gsLst>
          <a:lin ang="0"/>
        </a:gradFill>
      </p:bgPr>
    </p:bg>
    <p:spTree>
      <p:nvGrpSpPr>
        <p:cNvPr id="1" name=""/>
        <p:cNvGrpSpPr/>
        <p:nvPr/>
      </p:nvGrpSpPr>
      <p:grpSpPr>
        <a:xfrm>
          <a:off x="0" y="0"/>
          <a:ext cx="0" cy="0"/>
          <a:chOff x="0" y="0"/>
          <a:chExt cx="0" cy="0"/>
        </a:xfrm>
      </p:grpSpPr>
      <p:sp>
        <p:nvSpPr>
          <p:cNvPr name="Freeform 2" id="2"/>
          <p:cNvSpPr/>
          <p:nvPr/>
        </p:nvSpPr>
        <p:spPr>
          <a:xfrm flipH="false" flipV="false" rot="0">
            <a:off x="13195961" y="5935345"/>
            <a:ext cx="8126677" cy="8126677"/>
          </a:xfrm>
          <a:custGeom>
            <a:avLst/>
            <a:gdLst/>
            <a:ahLst/>
            <a:cxnLst/>
            <a:rect r="r" b="b" t="t" l="l"/>
            <a:pathLst>
              <a:path h="8126677" w="8126677">
                <a:moveTo>
                  <a:pt x="0" y="0"/>
                </a:moveTo>
                <a:lnTo>
                  <a:pt x="8126678" y="0"/>
                </a:lnTo>
                <a:lnTo>
                  <a:pt x="8126678" y="8126677"/>
                </a:lnTo>
                <a:lnTo>
                  <a:pt x="0" y="812667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350137" y="-1742992"/>
            <a:ext cx="4114800" cy="4114800"/>
          </a:xfrm>
          <a:custGeom>
            <a:avLst/>
            <a:gdLst/>
            <a:ahLst/>
            <a:cxnLst/>
            <a:rect r="r" b="b" t="t" l="l"/>
            <a:pathLst>
              <a:path h="4114800" w="4114800">
                <a:moveTo>
                  <a:pt x="0" y="0"/>
                </a:moveTo>
                <a:lnTo>
                  <a:pt x="4114800" y="0"/>
                </a:lnTo>
                <a:lnTo>
                  <a:pt x="4114800"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994970" y="-1387826"/>
            <a:ext cx="3404467" cy="3404467"/>
          </a:xfrm>
          <a:custGeom>
            <a:avLst/>
            <a:gdLst/>
            <a:ahLst/>
            <a:cxnLst/>
            <a:rect r="r" b="b" t="t" l="l"/>
            <a:pathLst>
              <a:path h="3404467" w="3404467">
                <a:moveTo>
                  <a:pt x="0" y="0"/>
                </a:moveTo>
                <a:lnTo>
                  <a:pt x="3404466" y="0"/>
                </a:lnTo>
                <a:lnTo>
                  <a:pt x="3404466" y="3404467"/>
                </a:lnTo>
                <a:lnTo>
                  <a:pt x="0" y="340446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0">
            <a:off x="13897411" y="6636795"/>
            <a:ext cx="6723778" cy="6723778"/>
          </a:xfrm>
          <a:custGeom>
            <a:avLst/>
            <a:gdLst/>
            <a:ahLst/>
            <a:cxnLst/>
            <a:rect r="r" b="b" t="t" l="l"/>
            <a:pathLst>
              <a:path h="6723778" w="6723778">
                <a:moveTo>
                  <a:pt x="0" y="0"/>
                </a:moveTo>
                <a:lnTo>
                  <a:pt x="6723778" y="0"/>
                </a:lnTo>
                <a:lnTo>
                  <a:pt x="6723778" y="6723778"/>
                </a:lnTo>
                <a:lnTo>
                  <a:pt x="0" y="672377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6" id="6"/>
          <p:cNvGrpSpPr/>
          <p:nvPr/>
        </p:nvGrpSpPr>
        <p:grpSpPr>
          <a:xfrm rot="0">
            <a:off x="14876906" y="7616290"/>
            <a:ext cx="4764788" cy="4764788"/>
            <a:chOff x="0" y="0"/>
            <a:chExt cx="812800" cy="812800"/>
          </a:xfrm>
        </p:grpSpPr>
        <p:sp>
          <p:nvSpPr>
            <p:cNvPr name="Freeform 7" id="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474646"/>
            </a:solidFill>
          </p:spPr>
        </p:sp>
        <p:sp>
          <p:nvSpPr>
            <p:cNvPr name="TextBox 8" id="8"/>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grpSp>
        <p:nvGrpSpPr>
          <p:cNvPr name="Group 9" id="9"/>
          <p:cNvGrpSpPr/>
          <p:nvPr/>
        </p:nvGrpSpPr>
        <p:grpSpPr>
          <a:xfrm rot="0">
            <a:off x="-499020" y="-891876"/>
            <a:ext cx="2412567" cy="2412567"/>
            <a:chOff x="0" y="0"/>
            <a:chExt cx="812800" cy="812800"/>
          </a:xfrm>
        </p:grpSpPr>
        <p:sp>
          <p:nvSpPr>
            <p:cNvPr name="Freeform 10" id="10"/>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474646"/>
            </a:solidFill>
          </p:spPr>
        </p:sp>
        <p:sp>
          <p:nvSpPr>
            <p:cNvPr name="TextBox 11" id="11"/>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sp>
        <p:nvSpPr>
          <p:cNvPr name="TextBox 12" id="12"/>
          <p:cNvSpPr txBox="true"/>
          <p:nvPr/>
        </p:nvSpPr>
        <p:spPr>
          <a:xfrm rot="0">
            <a:off x="2154295" y="2408279"/>
            <a:ext cx="13979410" cy="2555876"/>
          </a:xfrm>
          <a:prstGeom prst="rect">
            <a:avLst/>
          </a:prstGeom>
        </p:spPr>
        <p:txBody>
          <a:bodyPr anchor="t" rtlCol="false" tIns="0" lIns="0" bIns="0" rIns="0">
            <a:spAutoFit/>
          </a:bodyPr>
          <a:lstStyle/>
          <a:p>
            <a:pPr algn="ctr">
              <a:lnSpc>
                <a:spcPts val="10265"/>
              </a:lnSpc>
            </a:pPr>
            <a:r>
              <a:rPr lang="en-US" b="true" sz="7332">
                <a:solidFill>
                  <a:srgbClr val="000000"/>
                </a:solidFill>
                <a:latin typeface="Proxima Nova Bold"/>
                <a:ea typeface="Proxima Nova Bold"/>
                <a:cs typeface="Proxima Nova Bold"/>
                <a:sym typeface="Proxima Nova Bold"/>
              </a:rPr>
              <a:t>ADVANCED DATA MINING TECHNIQUES </a:t>
            </a:r>
          </a:p>
        </p:txBody>
      </p:sp>
      <p:grpSp>
        <p:nvGrpSpPr>
          <p:cNvPr name="Group 13" id="13"/>
          <p:cNvGrpSpPr/>
          <p:nvPr/>
        </p:nvGrpSpPr>
        <p:grpSpPr>
          <a:xfrm rot="0">
            <a:off x="5854559" y="5143500"/>
            <a:ext cx="6578882" cy="1023974"/>
            <a:chOff x="0" y="0"/>
            <a:chExt cx="1732710" cy="269689"/>
          </a:xfrm>
        </p:grpSpPr>
        <p:sp>
          <p:nvSpPr>
            <p:cNvPr name="Freeform 14" id="14"/>
            <p:cNvSpPr/>
            <p:nvPr/>
          </p:nvSpPr>
          <p:spPr>
            <a:xfrm flipH="false" flipV="false" rot="0">
              <a:off x="0" y="0"/>
              <a:ext cx="1732710" cy="269689"/>
            </a:xfrm>
            <a:custGeom>
              <a:avLst/>
              <a:gdLst/>
              <a:ahLst/>
              <a:cxnLst/>
              <a:rect r="r" b="b" t="t" l="l"/>
              <a:pathLst>
                <a:path h="269689" w="1732710">
                  <a:moveTo>
                    <a:pt x="60016" y="0"/>
                  </a:moveTo>
                  <a:lnTo>
                    <a:pt x="1672694" y="0"/>
                  </a:lnTo>
                  <a:cubicBezTo>
                    <a:pt x="1688611" y="0"/>
                    <a:pt x="1703876" y="6323"/>
                    <a:pt x="1715132" y="17578"/>
                  </a:cubicBezTo>
                  <a:cubicBezTo>
                    <a:pt x="1726387" y="28833"/>
                    <a:pt x="1732710" y="44099"/>
                    <a:pt x="1732710" y="60016"/>
                  </a:cubicBezTo>
                  <a:lnTo>
                    <a:pt x="1732710" y="209673"/>
                  </a:lnTo>
                  <a:cubicBezTo>
                    <a:pt x="1732710" y="242819"/>
                    <a:pt x="1705840" y="269689"/>
                    <a:pt x="1672694" y="269689"/>
                  </a:cubicBezTo>
                  <a:lnTo>
                    <a:pt x="60016" y="269689"/>
                  </a:lnTo>
                  <a:cubicBezTo>
                    <a:pt x="44099" y="269689"/>
                    <a:pt x="28833" y="263366"/>
                    <a:pt x="17578" y="252110"/>
                  </a:cubicBezTo>
                  <a:cubicBezTo>
                    <a:pt x="6323" y="240855"/>
                    <a:pt x="0" y="225590"/>
                    <a:pt x="0" y="209673"/>
                  </a:cubicBezTo>
                  <a:lnTo>
                    <a:pt x="0" y="60016"/>
                  </a:lnTo>
                  <a:cubicBezTo>
                    <a:pt x="0" y="44099"/>
                    <a:pt x="6323" y="28833"/>
                    <a:pt x="17578" y="17578"/>
                  </a:cubicBezTo>
                  <a:cubicBezTo>
                    <a:pt x="28833" y="6323"/>
                    <a:pt x="44099" y="0"/>
                    <a:pt x="60016" y="0"/>
                  </a:cubicBezTo>
                  <a:close/>
                </a:path>
              </a:pathLst>
            </a:custGeom>
            <a:solidFill>
              <a:srgbClr val="000000">
                <a:alpha val="0"/>
              </a:srgbClr>
            </a:solidFill>
            <a:ln w="38100" cap="rnd">
              <a:solidFill>
                <a:srgbClr val="474646"/>
              </a:solidFill>
              <a:prstDash val="solid"/>
              <a:round/>
            </a:ln>
          </p:spPr>
        </p:sp>
        <p:sp>
          <p:nvSpPr>
            <p:cNvPr name="TextBox 15" id="15"/>
            <p:cNvSpPr txBox="true"/>
            <p:nvPr/>
          </p:nvSpPr>
          <p:spPr>
            <a:xfrm>
              <a:off x="0" y="-38100"/>
              <a:ext cx="1732710" cy="307789"/>
            </a:xfrm>
            <a:prstGeom prst="rect">
              <a:avLst/>
            </a:prstGeom>
          </p:spPr>
          <p:txBody>
            <a:bodyPr anchor="ctr" rtlCol="false" tIns="50800" lIns="50800" bIns="50800" rIns="50800"/>
            <a:lstStyle/>
            <a:p>
              <a:pPr algn="ctr">
                <a:lnSpc>
                  <a:spcPts val="2659"/>
                </a:lnSpc>
              </a:pPr>
            </a:p>
          </p:txBody>
        </p:sp>
      </p:grpSp>
      <p:sp>
        <p:nvSpPr>
          <p:cNvPr name="TextBox 16" id="16"/>
          <p:cNvSpPr txBox="true"/>
          <p:nvPr/>
        </p:nvSpPr>
        <p:spPr>
          <a:xfrm rot="0">
            <a:off x="6245186" y="5226862"/>
            <a:ext cx="5797628" cy="771525"/>
          </a:xfrm>
          <a:prstGeom prst="rect">
            <a:avLst/>
          </a:prstGeom>
        </p:spPr>
        <p:txBody>
          <a:bodyPr anchor="t" rtlCol="false" tIns="0" lIns="0" bIns="0" rIns="0">
            <a:spAutoFit/>
          </a:bodyPr>
          <a:lstStyle/>
          <a:p>
            <a:pPr algn="ctr">
              <a:lnSpc>
                <a:spcPts val="6299"/>
              </a:lnSpc>
            </a:pPr>
            <a:r>
              <a:rPr lang="en-US" sz="4500">
                <a:solidFill>
                  <a:srgbClr val="000000"/>
                </a:solidFill>
                <a:latin typeface="Nunito"/>
                <a:ea typeface="Nunito"/>
                <a:cs typeface="Nunito"/>
                <a:sym typeface="Nunito"/>
              </a:rPr>
              <a:t>by Group 4</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A6A6A6">
                <a:alpha val="100000"/>
              </a:srgbClr>
            </a:gs>
            <a:gs pos="100000">
              <a:srgbClr val="FFFFFF">
                <a:alpha val="100000"/>
              </a:srgbClr>
            </a:gs>
          </a:gsLst>
          <a:lin ang="0"/>
        </a:gradFill>
      </p:bgPr>
    </p:bg>
    <p:spTree>
      <p:nvGrpSpPr>
        <p:cNvPr id="1" name=""/>
        <p:cNvGrpSpPr/>
        <p:nvPr/>
      </p:nvGrpSpPr>
      <p:grpSpPr>
        <a:xfrm>
          <a:off x="0" y="0"/>
          <a:ext cx="0" cy="0"/>
          <a:chOff x="0" y="0"/>
          <a:chExt cx="0" cy="0"/>
        </a:xfrm>
      </p:grpSpPr>
      <p:sp>
        <p:nvSpPr>
          <p:cNvPr name="Freeform 2" id="2"/>
          <p:cNvSpPr/>
          <p:nvPr/>
        </p:nvSpPr>
        <p:spPr>
          <a:xfrm flipH="false" flipV="false" rot="0">
            <a:off x="-2057400" y="-1258963"/>
            <a:ext cx="4114800" cy="4114800"/>
          </a:xfrm>
          <a:custGeom>
            <a:avLst/>
            <a:gdLst/>
            <a:ahLst/>
            <a:cxnLst/>
            <a:rect r="r" b="b" t="t" l="l"/>
            <a:pathLst>
              <a:path h="4114800" w="4114800">
                <a:moveTo>
                  <a:pt x="0" y="0"/>
                </a:moveTo>
                <a:lnTo>
                  <a:pt x="4114800" y="0"/>
                </a:lnTo>
                <a:lnTo>
                  <a:pt x="4114800"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702233" y="-903796"/>
            <a:ext cx="3404467" cy="3404467"/>
          </a:xfrm>
          <a:custGeom>
            <a:avLst/>
            <a:gdLst/>
            <a:ahLst/>
            <a:cxnLst/>
            <a:rect r="r" b="b" t="t" l="l"/>
            <a:pathLst>
              <a:path h="3404467" w="3404467">
                <a:moveTo>
                  <a:pt x="0" y="0"/>
                </a:moveTo>
                <a:lnTo>
                  <a:pt x="3404466" y="0"/>
                </a:lnTo>
                <a:lnTo>
                  <a:pt x="3404466" y="3404466"/>
                </a:lnTo>
                <a:lnTo>
                  <a:pt x="0" y="340446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4" id="4"/>
          <p:cNvSpPr txBox="true"/>
          <p:nvPr/>
        </p:nvSpPr>
        <p:spPr>
          <a:xfrm rot="0">
            <a:off x="4085116" y="1312787"/>
            <a:ext cx="10117768" cy="1543050"/>
          </a:xfrm>
          <a:prstGeom prst="rect">
            <a:avLst/>
          </a:prstGeom>
        </p:spPr>
        <p:txBody>
          <a:bodyPr anchor="t" rtlCol="false" tIns="0" lIns="0" bIns="0" rIns="0">
            <a:spAutoFit/>
          </a:bodyPr>
          <a:lstStyle/>
          <a:p>
            <a:pPr algn="ctr">
              <a:lnSpc>
                <a:spcPts val="12599"/>
              </a:lnSpc>
            </a:pPr>
            <a:r>
              <a:rPr lang="en-US" b="true" sz="9000">
                <a:solidFill>
                  <a:srgbClr val="000000"/>
                </a:solidFill>
                <a:latin typeface="Proxima Nova Bold"/>
                <a:ea typeface="Proxima Nova Bold"/>
                <a:cs typeface="Proxima Nova Bold"/>
                <a:sym typeface="Proxima Nova Bold"/>
              </a:rPr>
              <a:t>INTRODUCTION</a:t>
            </a:r>
          </a:p>
        </p:txBody>
      </p:sp>
      <p:sp>
        <p:nvSpPr>
          <p:cNvPr name="TextBox 5" id="5"/>
          <p:cNvSpPr txBox="true"/>
          <p:nvPr/>
        </p:nvSpPr>
        <p:spPr>
          <a:xfrm rot="0">
            <a:off x="1314270" y="3752958"/>
            <a:ext cx="15659460" cy="3785651"/>
          </a:xfrm>
          <a:prstGeom prst="rect">
            <a:avLst/>
          </a:prstGeom>
        </p:spPr>
        <p:txBody>
          <a:bodyPr anchor="t" rtlCol="false" tIns="0" lIns="0" bIns="0" rIns="0">
            <a:spAutoFit/>
          </a:bodyPr>
          <a:lstStyle/>
          <a:p>
            <a:pPr algn="l">
              <a:lnSpc>
                <a:spcPts val="6067"/>
              </a:lnSpc>
            </a:pPr>
            <a:r>
              <a:rPr lang="en-US" sz="4333" b="true">
                <a:solidFill>
                  <a:srgbClr val="000000"/>
                </a:solidFill>
                <a:latin typeface="Nunito Bold"/>
                <a:ea typeface="Nunito Bold"/>
                <a:cs typeface="Nunito Bold"/>
                <a:sym typeface="Nunito Bold"/>
              </a:rPr>
              <a:t>Data mining is the process of finding useful patterns in large datasets. Advanced methods like ensemble learning, NLP, time-series analysis, and graph mining make it possible to handle complex data and apply insights to real-world problems such as business, healthcare, and social networks.</a:t>
            </a:r>
          </a:p>
        </p:txBody>
      </p:sp>
      <p:sp>
        <p:nvSpPr>
          <p:cNvPr name="Freeform 6" id="6"/>
          <p:cNvSpPr/>
          <p:nvPr/>
        </p:nvSpPr>
        <p:spPr>
          <a:xfrm flipH="false" flipV="false" rot="0">
            <a:off x="16230600" y="7200900"/>
            <a:ext cx="4114800" cy="4114800"/>
          </a:xfrm>
          <a:custGeom>
            <a:avLst/>
            <a:gdLst/>
            <a:ahLst/>
            <a:cxnLst/>
            <a:rect r="r" b="b" t="t" l="l"/>
            <a:pathLst>
              <a:path h="4114800" w="4114800">
                <a:moveTo>
                  <a:pt x="0" y="0"/>
                </a:moveTo>
                <a:lnTo>
                  <a:pt x="4114800" y="0"/>
                </a:lnTo>
                <a:lnTo>
                  <a:pt x="4114800"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7" id="7"/>
          <p:cNvSpPr/>
          <p:nvPr/>
        </p:nvSpPr>
        <p:spPr>
          <a:xfrm flipH="false" flipV="false" rot="0">
            <a:off x="16585767" y="7556067"/>
            <a:ext cx="3404467" cy="3404467"/>
          </a:xfrm>
          <a:custGeom>
            <a:avLst/>
            <a:gdLst/>
            <a:ahLst/>
            <a:cxnLst/>
            <a:rect r="r" b="b" t="t" l="l"/>
            <a:pathLst>
              <a:path h="3404467" w="3404467">
                <a:moveTo>
                  <a:pt x="0" y="0"/>
                </a:moveTo>
                <a:lnTo>
                  <a:pt x="3404466" y="0"/>
                </a:lnTo>
                <a:lnTo>
                  <a:pt x="3404466" y="3404466"/>
                </a:lnTo>
                <a:lnTo>
                  <a:pt x="0" y="340446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8" id="8"/>
          <p:cNvGrpSpPr/>
          <p:nvPr/>
        </p:nvGrpSpPr>
        <p:grpSpPr>
          <a:xfrm rot="0">
            <a:off x="12319137" y="9258300"/>
            <a:ext cx="3911463" cy="3911463"/>
            <a:chOff x="0" y="0"/>
            <a:chExt cx="812800" cy="812800"/>
          </a:xfrm>
        </p:grpSpPr>
        <p:sp>
          <p:nvSpPr>
            <p:cNvPr name="Freeform 9" id="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474646"/>
            </a:solidFill>
          </p:spPr>
        </p:sp>
        <p:sp>
          <p:nvSpPr>
            <p:cNvPr name="TextBox 10" id="10"/>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sp>
        <p:nvSpPr>
          <p:cNvPr name="Freeform 11" id="11"/>
          <p:cNvSpPr/>
          <p:nvPr/>
        </p:nvSpPr>
        <p:spPr>
          <a:xfrm flipH="false" flipV="false" rot="0">
            <a:off x="16998733" y="7969033"/>
            <a:ext cx="2578533" cy="2578533"/>
          </a:xfrm>
          <a:custGeom>
            <a:avLst/>
            <a:gdLst/>
            <a:ahLst/>
            <a:cxnLst/>
            <a:rect r="r" b="b" t="t" l="l"/>
            <a:pathLst>
              <a:path h="2578533" w="2578533">
                <a:moveTo>
                  <a:pt x="0" y="0"/>
                </a:moveTo>
                <a:lnTo>
                  <a:pt x="2578534" y="0"/>
                </a:lnTo>
                <a:lnTo>
                  <a:pt x="2578534" y="2578534"/>
                </a:lnTo>
                <a:lnTo>
                  <a:pt x="0" y="257853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2" id="12"/>
          <p:cNvSpPr/>
          <p:nvPr/>
        </p:nvSpPr>
        <p:spPr>
          <a:xfrm flipH="false" flipV="false" rot="0">
            <a:off x="-1289267" y="-490830"/>
            <a:ext cx="2578533" cy="2578533"/>
          </a:xfrm>
          <a:custGeom>
            <a:avLst/>
            <a:gdLst/>
            <a:ahLst/>
            <a:cxnLst/>
            <a:rect r="r" b="b" t="t" l="l"/>
            <a:pathLst>
              <a:path h="2578533" w="2578533">
                <a:moveTo>
                  <a:pt x="0" y="0"/>
                </a:moveTo>
                <a:lnTo>
                  <a:pt x="2578534" y="0"/>
                </a:lnTo>
                <a:lnTo>
                  <a:pt x="2578534" y="2578534"/>
                </a:lnTo>
                <a:lnTo>
                  <a:pt x="0" y="257853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13" id="13"/>
          <p:cNvGrpSpPr/>
          <p:nvPr/>
        </p:nvGrpSpPr>
        <p:grpSpPr>
          <a:xfrm rot="0">
            <a:off x="2129385" y="-2859528"/>
            <a:ext cx="3911463" cy="3911463"/>
            <a:chOff x="0" y="0"/>
            <a:chExt cx="812800" cy="812800"/>
          </a:xfrm>
        </p:grpSpPr>
        <p:sp>
          <p:nvSpPr>
            <p:cNvPr name="Freeform 14" id="1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474646"/>
            </a:solidFill>
          </p:spPr>
        </p:sp>
        <p:sp>
          <p:nvSpPr>
            <p:cNvPr name="TextBox 15" id="15"/>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A6A6A6">
                <a:alpha val="100000"/>
              </a:srgbClr>
            </a:gs>
            <a:gs pos="100000">
              <a:srgbClr val="FFFFFF">
                <a:alpha val="100000"/>
              </a:srgbClr>
            </a:gs>
          </a:gsLst>
          <a:lin ang="0"/>
        </a:gradFill>
      </p:bgPr>
    </p:bg>
    <p:spTree>
      <p:nvGrpSpPr>
        <p:cNvPr id="1" name=""/>
        <p:cNvGrpSpPr/>
        <p:nvPr/>
      </p:nvGrpSpPr>
      <p:grpSpPr>
        <a:xfrm>
          <a:off x="0" y="0"/>
          <a:ext cx="0" cy="0"/>
          <a:chOff x="0" y="0"/>
          <a:chExt cx="0" cy="0"/>
        </a:xfrm>
      </p:grpSpPr>
      <p:sp>
        <p:nvSpPr>
          <p:cNvPr name="Freeform 2" id="2"/>
          <p:cNvSpPr/>
          <p:nvPr/>
        </p:nvSpPr>
        <p:spPr>
          <a:xfrm flipH="false" flipV="false" rot="0">
            <a:off x="-2057400" y="-1258963"/>
            <a:ext cx="4114800" cy="4114800"/>
          </a:xfrm>
          <a:custGeom>
            <a:avLst/>
            <a:gdLst/>
            <a:ahLst/>
            <a:cxnLst/>
            <a:rect r="r" b="b" t="t" l="l"/>
            <a:pathLst>
              <a:path h="4114800" w="4114800">
                <a:moveTo>
                  <a:pt x="0" y="0"/>
                </a:moveTo>
                <a:lnTo>
                  <a:pt x="4114800" y="0"/>
                </a:lnTo>
                <a:lnTo>
                  <a:pt x="4114800"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702233" y="-903796"/>
            <a:ext cx="3404467" cy="3404467"/>
          </a:xfrm>
          <a:custGeom>
            <a:avLst/>
            <a:gdLst/>
            <a:ahLst/>
            <a:cxnLst/>
            <a:rect r="r" b="b" t="t" l="l"/>
            <a:pathLst>
              <a:path h="3404467" w="3404467">
                <a:moveTo>
                  <a:pt x="0" y="0"/>
                </a:moveTo>
                <a:lnTo>
                  <a:pt x="3404466" y="0"/>
                </a:lnTo>
                <a:lnTo>
                  <a:pt x="3404466" y="3404466"/>
                </a:lnTo>
                <a:lnTo>
                  <a:pt x="0" y="340446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16230600" y="7200900"/>
            <a:ext cx="4114800" cy="4114800"/>
          </a:xfrm>
          <a:custGeom>
            <a:avLst/>
            <a:gdLst/>
            <a:ahLst/>
            <a:cxnLst/>
            <a:rect r="r" b="b" t="t" l="l"/>
            <a:pathLst>
              <a:path h="4114800" w="4114800">
                <a:moveTo>
                  <a:pt x="0" y="0"/>
                </a:moveTo>
                <a:lnTo>
                  <a:pt x="4114800" y="0"/>
                </a:lnTo>
                <a:lnTo>
                  <a:pt x="4114800"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0">
            <a:off x="16585767" y="7556067"/>
            <a:ext cx="3404467" cy="3404467"/>
          </a:xfrm>
          <a:custGeom>
            <a:avLst/>
            <a:gdLst/>
            <a:ahLst/>
            <a:cxnLst/>
            <a:rect r="r" b="b" t="t" l="l"/>
            <a:pathLst>
              <a:path h="3404467" w="3404467">
                <a:moveTo>
                  <a:pt x="0" y="0"/>
                </a:moveTo>
                <a:lnTo>
                  <a:pt x="3404466" y="0"/>
                </a:lnTo>
                <a:lnTo>
                  <a:pt x="3404466" y="3404466"/>
                </a:lnTo>
                <a:lnTo>
                  <a:pt x="0" y="340446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6" id="6"/>
          <p:cNvGrpSpPr/>
          <p:nvPr/>
        </p:nvGrpSpPr>
        <p:grpSpPr>
          <a:xfrm rot="0">
            <a:off x="12319137" y="9258300"/>
            <a:ext cx="3911463" cy="3911463"/>
            <a:chOff x="0" y="0"/>
            <a:chExt cx="812800" cy="812800"/>
          </a:xfrm>
        </p:grpSpPr>
        <p:sp>
          <p:nvSpPr>
            <p:cNvPr name="Freeform 7" id="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474646"/>
            </a:solidFill>
          </p:spPr>
        </p:sp>
        <p:sp>
          <p:nvSpPr>
            <p:cNvPr name="TextBox 8" id="8"/>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sp>
        <p:nvSpPr>
          <p:cNvPr name="Freeform 9" id="9"/>
          <p:cNvSpPr/>
          <p:nvPr/>
        </p:nvSpPr>
        <p:spPr>
          <a:xfrm flipH="false" flipV="false" rot="0">
            <a:off x="16998733" y="7969033"/>
            <a:ext cx="2578533" cy="2578533"/>
          </a:xfrm>
          <a:custGeom>
            <a:avLst/>
            <a:gdLst/>
            <a:ahLst/>
            <a:cxnLst/>
            <a:rect r="r" b="b" t="t" l="l"/>
            <a:pathLst>
              <a:path h="2578533" w="2578533">
                <a:moveTo>
                  <a:pt x="0" y="0"/>
                </a:moveTo>
                <a:lnTo>
                  <a:pt x="2578534" y="0"/>
                </a:lnTo>
                <a:lnTo>
                  <a:pt x="2578534" y="2578534"/>
                </a:lnTo>
                <a:lnTo>
                  <a:pt x="0" y="257853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0" id="10"/>
          <p:cNvSpPr/>
          <p:nvPr/>
        </p:nvSpPr>
        <p:spPr>
          <a:xfrm flipH="false" flipV="false" rot="0">
            <a:off x="-1289267" y="-490830"/>
            <a:ext cx="2578533" cy="2578533"/>
          </a:xfrm>
          <a:custGeom>
            <a:avLst/>
            <a:gdLst/>
            <a:ahLst/>
            <a:cxnLst/>
            <a:rect r="r" b="b" t="t" l="l"/>
            <a:pathLst>
              <a:path h="2578533" w="2578533">
                <a:moveTo>
                  <a:pt x="0" y="0"/>
                </a:moveTo>
                <a:lnTo>
                  <a:pt x="2578534" y="0"/>
                </a:lnTo>
                <a:lnTo>
                  <a:pt x="2578534" y="2578534"/>
                </a:lnTo>
                <a:lnTo>
                  <a:pt x="0" y="257853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11" id="11"/>
          <p:cNvGrpSpPr/>
          <p:nvPr/>
        </p:nvGrpSpPr>
        <p:grpSpPr>
          <a:xfrm rot="0">
            <a:off x="2129385" y="-2859528"/>
            <a:ext cx="3911463" cy="3911463"/>
            <a:chOff x="0" y="0"/>
            <a:chExt cx="812800" cy="812800"/>
          </a:xfrm>
        </p:grpSpPr>
        <p:sp>
          <p:nvSpPr>
            <p:cNvPr name="Freeform 12" id="12"/>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474646"/>
            </a:solidFill>
          </p:spPr>
        </p:sp>
        <p:sp>
          <p:nvSpPr>
            <p:cNvPr name="TextBox 13" id="13"/>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sp>
        <p:nvSpPr>
          <p:cNvPr name="TextBox 14" id="14"/>
          <p:cNvSpPr txBox="true"/>
          <p:nvPr/>
        </p:nvSpPr>
        <p:spPr>
          <a:xfrm rot="0">
            <a:off x="2057400" y="1200609"/>
            <a:ext cx="7366769" cy="887095"/>
          </a:xfrm>
          <a:prstGeom prst="rect">
            <a:avLst/>
          </a:prstGeom>
        </p:spPr>
        <p:txBody>
          <a:bodyPr anchor="t" rtlCol="false" tIns="0" lIns="0" bIns="0" rIns="0">
            <a:spAutoFit/>
          </a:bodyPr>
          <a:lstStyle/>
          <a:p>
            <a:pPr algn="ctr">
              <a:lnSpc>
                <a:spcPts val="7279"/>
              </a:lnSpc>
            </a:pPr>
            <a:r>
              <a:rPr lang="en-US" sz="5199" b="true">
                <a:solidFill>
                  <a:srgbClr val="000000"/>
                </a:solidFill>
                <a:latin typeface="Canva Sans Bold"/>
                <a:ea typeface="Canva Sans Bold"/>
                <a:cs typeface="Canva Sans Bold"/>
                <a:sym typeface="Canva Sans Bold"/>
              </a:rPr>
              <a:t>LEARNING OUTCOMES</a:t>
            </a:r>
          </a:p>
        </p:txBody>
      </p:sp>
      <p:sp>
        <p:nvSpPr>
          <p:cNvPr name="TextBox 15" id="15"/>
          <p:cNvSpPr txBox="true"/>
          <p:nvPr/>
        </p:nvSpPr>
        <p:spPr>
          <a:xfrm rot="0">
            <a:off x="360140" y="3046337"/>
            <a:ext cx="17567720" cy="5438394"/>
          </a:xfrm>
          <a:prstGeom prst="rect">
            <a:avLst/>
          </a:prstGeom>
        </p:spPr>
        <p:txBody>
          <a:bodyPr anchor="t" rtlCol="false" tIns="0" lIns="0" bIns="0" rIns="0">
            <a:spAutoFit/>
          </a:bodyPr>
          <a:lstStyle/>
          <a:p>
            <a:pPr algn="l">
              <a:lnSpc>
                <a:spcPts val="4862"/>
              </a:lnSpc>
            </a:pPr>
            <a:r>
              <a:rPr lang="en-US" sz="3473" b="true">
                <a:solidFill>
                  <a:srgbClr val="000000"/>
                </a:solidFill>
                <a:latin typeface="Nunito Bold"/>
                <a:ea typeface="Nunito Bold"/>
                <a:cs typeface="Nunito Bold"/>
                <a:sym typeface="Nunito Bold"/>
              </a:rPr>
              <a:t>At the end of the lesson, the student will be able to:</a:t>
            </a:r>
          </a:p>
          <a:p>
            <a:pPr algn="l" marL="749899" indent="-374949" lvl="1">
              <a:lnSpc>
                <a:spcPts val="4862"/>
              </a:lnSpc>
              <a:buFont typeface="Arial"/>
              <a:buChar char="•"/>
            </a:pPr>
            <a:r>
              <a:rPr lang="en-US" b="true" sz="3473">
                <a:solidFill>
                  <a:srgbClr val="000000"/>
                </a:solidFill>
                <a:latin typeface="Nunito Bold"/>
                <a:ea typeface="Nunito Bold"/>
                <a:cs typeface="Nunito Bold"/>
                <a:sym typeface="Nunito Bold"/>
              </a:rPr>
              <a:t>Explain advanced data mining techniques such as ensemble learning and deep learning.</a:t>
            </a:r>
          </a:p>
          <a:p>
            <a:pPr algn="l" marL="749899" indent="-374949" lvl="1">
              <a:lnSpc>
                <a:spcPts val="4862"/>
              </a:lnSpc>
              <a:buFont typeface="Arial"/>
              <a:buChar char="•"/>
            </a:pPr>
            <a:r>
              <a:rPr lang="en-US" b="true" sz="3473">
                <a:solidFill>
                  <a:srgbClr val="000000"/>
                </a:solidFill>
                <a:latin typeface="Nunito Bold"/>
                <a:ea typeface="Nunito Bold"/>
                <a:cs typeface="Nunito Bold"/>
                <a:sym typeface="Nunito Bold"/>
              </a:rPr>
              <a:t>Apply text mining and NLP methods to extract insights from textual data.</a:t>
            </a:r>
          </a:p>
          <a:p>
            <a:pPr algn="l" marL="749899" indent="-374949" lvl="1">
              <a:lnSpc>
                <a:spcPts val="4862"/>
              </a:lnSpc>
              <a:buFont typeface="Arial"/>
              <a:buChar char="•"/>
            </a:pPr>
            <a:r>
              <a:rPr lang="en-US" b="true" sz="3473">
                <a:solidFill>
                  <a:srgbClr val="000000"/>
                </a:solidFill>
                <a:latin typeface="Nunito Bold"/>
                <a:ea typeface="Nunito Bold"/>
                <a:cs typeface="Nunito Bold"/>
                <a:sym typeface="Nunito Bold"/>
              </a:rPr>
              <a:t>Analyze time-series data and identify sequential patterns in datasets.</a:t>
            </a:r>
          </a:p>
          <a:p>
            <a:pPr algn="l" marL="749899" indent="-374949" lvl="1">
              <a:lnSpc>
                <a:spcPts val="4862"/>
              </a:lnSpc>
              <a:buFont typeface="Arial"/>
              <a:buChar char="•"/>
            </a:pPr>
            <a:r>
              <a:rPr lang="en-US" b="true" sz="3473">
                <a:solidFill>
                  <a:srgbClr val="000000"/>
                </a:solidFill>
                <a:latin typeface="Nunito Bold"/>
                <a:ea typeface="Nunito Bold"/>
                <a:cs typeface="Nunito Bold"/>
                <a:sym typeface="Nunito Bold"/>
              </a:rPr>
              <a:t>Interpret graph structures and social network data to uncover relationships and communities.</a:t>
            </a:r>
          </a:p>
          <a:p>
            <a:pPr algn="l" marL="749899" indent="-374949" lvl="1">
              <a:lnSpc>
                <a:spcPts val="4862"/>
              </a:lnSpc>
              <a:buFont typeface="Arial"/>
              <a:buChar char="•"/>
            </a:pPr>
            <a:r>
              <a:rPr lang="en-US" b="true" sz="3473">
                <a:solidFill>
                  <a:srgbClr val="000000"/>
                </a:solidFill>
                <a:latin typeface="Nunito Bold"/>
                <a:ea typeface="Nunito Bold"/>
                <a:cs typeface="Nunito Bold"/>
                <a:sym typeface="Nunito Bold"/>
              </a:rPr>
              <a:t>Relate these techniques to real-world applications in business, healthcare, and social media.</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A6A6A6">
                <a:alpha val="100000"/>
              </a:srgbClr>
            </a:gs>
            <a:gs pos="100000">
              <a:srgbClr val="FFFFFF">
                <a:alpha val="100000"/>
              </a:srgbClr>
            </a:gs>
          </a:gsLst>
          <a:lin ang="0"/>
        </a:gradFill>
      </p:bgPr>
    </p:bg>
    <p:spTree>
      <p:nvGrpSpPr>
        <p:cNvPr id="1" name=""/>
        <p:cNvGrpSpPr/>
        <p:nvPr/>
      </p:nvGrpSpPr>
      <p:grpSpPr>
        <a:xfrm>
          <a:off x="0" y="0"/>
          <a:ext cx="0" cy="0"/>
          <a:chOff x="0" y="0"/>
          <a:chExt cx="0" cy="0"/>
        </a:xfrm>
      </p:grpSpPr>
      <p:sp>
        <p:nvSpPr>
          <p:cNvPr name="Freeform 2" id="2"/>
          <p:cNvSpPr/>
          <p:nvPr/>
        </p:nvSpPr>
        <p:spPr>
          <a:xfrm flipH="false" flipV="false" rot="0">
            <a:off x="-2057400" y="-1258963"/>
            <a:ext cx="4114800" cy="4114800"/>
          </a:xfrm>
          <a:custGeom>
            <a:avLst/>
            <a:gdLst/>
            <a:ahLst/>
            <a:cxnLst/>
            <a:rect r="r" b="b" t="t" l="l"/>
            <a:pathLst>
              <a:path h="4114800" w="4114800">
                <a:moveTo>
                  <a:pt x="0" y="0"/>
                </a:moveTo>
                <a:lnTo>
                  <a:pt x="4114800" y="0"/>
                </a:lnTo>
                <a:lnTo>
                  <a:pt x="4114800"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702233" y="-903796"/>
            <a:ext cx="3404467" cy="3404467"/>
          </a:xfrm>
          <a:custGeom>
            <a:avLst/>
            <a:gdLst/>
            <a:ahLst/>
            <a:cxnLst/>
            <a:rect r="r" b="b" t="t" l="l"/>
            <a:pathLst>
              <a:path h="3404467" w="3404467">
                <a:moveTo>
                  <a:pt x="0" y="0"/>
                </a:moveTo>
                <a:lnTo>
                  <a:pt x="3404466" y="0"/>
                </a:lnTo>
                <a:lnTo>
                  <a:pt x="3404466" y="3404466"/>
                </a:lnTo>
                <a:lnTo>
                  <a:pt x="0" y="340446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16230600" y="7200900"/>
            <a:ext cx="4114800" cy="4114800"/>
          </a:xfrm>
          <a:custGeom>
            <a:avLst/>
            <a:gdLst/>
            <a:ahLst/>
            <a:cxnLst/>
            <a:rect r="r" b="b" t="t" l="l"/>
            <a:pathLst>
              <a:path h="4114800" w="4114800">
                <a:moveTo>
                  <a:pt x="0" y="0"/>
                </a:moveTo>
                <a:lnTo>
                  <a:pt x="4114800" y="0"/>
                </a:lnTo>
                <a:lnTo>
                  <a:pt x="4114800"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0">
            <a:off x="16585767" y="7556067"/>
            <a:ext cx="3404467" cy="3404467"/>
          </a:xfrm>
          <a:custGeom>
            <a:avLst/>
            <a:gdLst/>
            <a:ahLst/>
            <a:cxnLst/>
            <a:rect r="r" b="b" t="t" l="l"/>
            <a:pathLst>
              <a:path h="3404467" w="3404467">
                <a:moveTo>
                  <a:pt x="0" y="0"/>
                </a:moveTo>
                <a:lnTo>
                  <a:pt x="3404466" y="0"/>
                </a:lnTo>
                <a:lnTo>
                  <a:pt x="3404466" y="3404466"/>
                </a:lnTo>
                <a:lnTo>
                  <a:pt x="0" y="340446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6" id="6"/>
          <p:cNvGrpSpPr/>
          <p:nvPr/>
        </p:nvGrpSpPr>
        <p:grpSpPr>
          <a:xfrm rot="0">
            <a:off x="12319137" y="9258300"/>
            <a:ext cx="3911463" cy="3911463"/>
            <a:chOff x="0" y="0"/>
            <a:chExt cx="812800" cy="812800"/>
          </a:xfrm>
        </p:grpSpPr>
        <p:sp>
          <p:nvSpPr>
            <p:cNvPr name="Freeform 7" id="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474646"/>
            </a:solidFill>
          </p:spPr>
        </p:sp>
        <p:sp>
          <p:nvSpPr>
            <p:cNvPr name="TextBox 8" id="8"/>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sp>
        <p:nvSpPr>
          <p:cNvPr name="Freeform 9" id="9"/>
          <p:cNvSpPr/>
          <p:nvPr/>
        </p:nvSpPr>
        <p:spPr>
          <a:xfrm flipH="false" flipV="false" rot="0">
            <a:off x="16998733" y="7969033"/>
            <a:ext cx="2578533" cy="2578533"/>
          </a:xfrm>
          <a:custGeom>
            <a:avLst/>
            <a:gdLst/>
            <a:ahLst/>
            <a:cxnLst/>
            <a:rect r="r" b="b" t="t" l="l"/>
            <a:pathLst>
              <a:path h="2578533" w="2578533">
                <a:moveTo>
                  <a:pt x="0" y="0"/>
                </a:moveTo>
                <a:lnTo>
                  <a:pt x="2578534" y="0"/>
                </a:lnTo>
                <a:lnTo>
                  <a:pt x="2578534" y="2578534"/>
                </a:lnTo>
                <a:lnTo>
                  <a:pt x="0" y="257853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0" id="10"/>
          <p:cNvSpPr/>
          <p:nvPr/>
        </p:nvSpPr>
        <p:spPr>
          <a:xfrm flipH="false" flipV="false" rot="0">
            <a:off x="-1289267" y="-490830"/>
            <a:ext cx="2578533" cy="2578533"/>
          </a:xfrm>
          <a:custGeom>
            <a:avLst/>
            <a:gdLst/>
            <a:ahLst/>
            <a:cxnLst/>
            <a:rect r="r" b="b" t="t" l="l"/>
            <a:pathLst>
              <a:path h="2578533" w="2578533">
                <a:moveTo>
                  <a:pt x="0" y="0"/>
                </a:moveTo>
                <a:lnTo>
                  <a:pt x="2578534" y="0"/>
                </a:lnTo>
                <a:lnTo>
                  <a:pt x="2578534" y="2578534"/>
                </a:lnTo>
                <a:lnTo>
                  <a:pt x="0" y="257853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11" id="11"/>
          <p:cNvGrpSpPr/>
          <p:nvPr/>
        </p:nvGrpSpPr>
        <p:grpSpPr>
          <a:xfrm rot="0">
            <a:off x="2129385" y="-2859528"/>
            <a:ext cx="3911463" cy="3911463"/>
            <a:chOff x="0" y="0"/>
            <a:chExt cx="812800" cy="812800"/>
          </a:xfrm>
        </p:grpSpPr>
        <p:sp>
          <p:nvSpPr>
            <p:cNvPr name="Freeform 12" id="12"/>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474646"/>
            </a:solidFill>
          </p:spPr>
        </p:sp>
        <p:sp>
          <p:nvSpPr>
            <p:cNvPr name="TextBox 13" id="13"/>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sp>
        <p:nvSpPr>
          <p:cNvPr name="TextBox 14" id="14"/>
          <p:cNvSpPr txBox="true"/>
          <p:nvPr/>
        </p:nvSpPr>
        <p:spPr>
          <a:xfrm rot="0">
            <a:off x="3555507" y="674612"/>
            <a:ext cx="11176986" cy="2105025"/>
          </a:xfrm>
          <a:prstGeom prst="rect">
            <a:avLst/>
          </a:prstGeom>
        </p:spPr>
        <p:txBody>
          <a:bodyPr anchor="t" rtlCol="false" tIns="0" lIns="0" bIns="0" rIns="0">
            <a:spAutoFit/>
          </a:bodyPr>
          <a:lstStyle/>
          <a:p>
            <a:pPr algn="ctr">
              <a:lnSpc>
                <a:spcPts val="8400"/>
              </a:lnSpc>
            </a:pPr>
            <a:r>
              <a:rPr lang="en-US" b="true" sz="6000">
                <a:solidFill>
                  <a:srgbClr val="000000"/>
                </a:solidFill>
                <a:latin typeface="Proxima Nova Bold"/>
                <a:ea typeface="Proxima Nova Bold"/>
                <a:cs typeface="Proxima Nova Bold"/>
                <a:sym typeface="Proxima Nova Bold"/>
              </a:rPr>
              <a:t>ADVANCED DATA MINING TECHNIQUES</a:t>
            </a:r>
          </a:p>
        </p:txBody>
      </p:sp>
      <p:sp>
        <p:nvSpPr>
          <p:cNvPr name="TextBox 15" id="15"/>
          <p:cNvSpPr txBox="true"/>
          <p:nvPr/>
        </p:nvSpPr>
        <p:spPr>
          <a:xfrm rot="0">
            <a:off x="1289267" y="3092386"/>
            <a:ext cx="5571927" cy="771525"/>
          </a:xfrm>
          <a:prstGeom prst="rect">
            <a:avLst/>
          </a:prstGeom>
        </p:spPr>
        <p:txBody>
          <a:bodyPr anchor="t" rtlCol="false" tIns="0" lIns="0" bIns="0" rIns="0">
            <a:spAutoFit/>
          </a:bodyPr>
          <a:lstStyle/>
          <a:p>
            <a:pPr algn="ctr">
              <a:lnSpc>
                <a:spcPts val="6300"/>
              </a:lnSpc>
            </a:pPr>
            <a:r>
              <a:rPr lang="en-US" b="true" sz="4500" i="true">
                <a:solidFill>
                  <a:srgbClr val="000000"/>
                </a:solidFill>
                <a:latin typeface="Canva Sans Bold Italics"/>
                <a:ea typeface="Canva Sans Bold Italics"/>
                <a:cs typeface="Canva Sans Bold Italics"/>
                <a:sym typeface="Canva Sans Bold Italics"/>
              </a:rPr>
              <a:t>Ensemble Learning</a:t>
            </a:r>
          </a:p>
        </p:txBody>
      </p:sp>
      <p:sp>
        <p:nvSpPr>
          <p:cNvPr name="TextBox 16" id="16"/>
          <p:cNvSpPr txBox="true"/>
          <p:nvPr/>
        </p:nvSpPr>
        <p:spPr>
          <a:xfrm rot="0">
            <a:off x="1289267" y="4507769"/>
            <a:ext cx="15970033" cy="4030471"/>
          </a:xfrm>
          <a:prstGeom prst="rect">
            <a:avLst/>
          </a:prstGeom>
        </p:spPr>
        <p:txBody>
          <a:bodyPr anchor="t" rtlCol="false" tIns="0" lIns="0" bIns="0" rIns="0">
            <a:spAutoFit/>
          </a:bodyPr>
          <a:lstStyle/>
          <a:p>
            <a:pPr algn="l">
              <a:lnSpc>
                <a:spcPts val="5356"/>
              </a:lnSpc>
            </a:pPr>
            <a:r>
              <a:rPr lang="en-US" sz="3825" b="true">
                <a:solidFill>
                  <a:srgbClr val="000000"/>
                </a:solidFill>
                <a:latin typeface="Canva Sans Bold"/>
                <a:ea typeface="Canva Sans Bold"/>
                <a:cs typeface="Canva Sans Bold"/>
                <a:sym typeface="Canva Sans Bold"/>
              </a:rPr>
              <a:t>Ensemble learning is a method where we use many small mo</a:t>
            </a:r>
            <a:r>
              <a:rPr lang="en-US" b="true" sz="3825">
                <a:solidFill>
                  <a:srgbClr val="000000"/>
                </a:solidFill>
                <a:latin typeface="Canva Sans Bold"/>
                <a:ea typeface="Canva Sans Bold"/>
                <a:cs typeface="Canva Sans Bold"/>
                <a:sym typeface="Canva Sans Bold"/>
              </a:rPr>
              <a:t>dels instead of just one. Each of these models may not be very strong on its own, but when we put their results together, we get a better and more accurate answer. It's like asking a group of people for advice instead of just one person—each one might be a little wrong, but together, they usually give a better answer.</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A6A6A6">
                <a:alpha val="100000"/>
              </a:srgbClr>
            </a:gs>
            <a:gs pos="100000">
              <a:srgbClr val="FFFFFF">
                <a:alpha val="100000"/>
              </a:srgbClr>
            </a:gs>
          </a:gsLst>
          <a:lin ang="0"/>
        </a:gradFill>
      </p:bgPr>
    </p:bg>
    <p:spTree>
      <p:nvGrpSpPr>
        <p:cNvPr id="1" name=""/>
        <p:cNvGrpSpPr/>
        <p:nvPr/>
      </p:nvGrpSpPr>
      <p:grpSpPr>
        <a:xfrm>
          <a:off x="0" y="0"/>
          <a:ext cx="0" cy="0"/>
          <a:chOff x="0" y="0"/>
          <a:chExt cx="0" cy="0"/>
        </a:xfrm>
      </p:grpSpPr>
      <p:sp>
        <p:nvSpPr>
          <p:cNvPr name="Freeform 2" id="2"/>
          <p:cNvSpPr/>
          <p:nvPr/>
        </p:nvSpPr>
        <p:spPr>
          <a:xfrm flipH="false" flipV="false" rot="0">
            <a:off x="-2057400" y="-1258963"/>
            <a:ext cx="4114800" cy="4114800"/>
          </a:xfrm>
          <a:custGeom>
            <a:avLst/>
            <a:gdLst/>
            <a:ahLst/>
            <a:cxnLst/>
            <a:rect r="r" b="b" t="t" l="l"/>
            <a:pathLst>
              <a:path h="4114800" w="4114800">
                <a:moveTo>
                  <a:pt x="0" y="0"/>
                </a:moveTo>
                <a:lnTo>
                  <a:pt x="4114800" y="0"/>
                </a:lnTo>
                <a:lnTo>
                  <a:pt x="4114800"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702233" y="-903796"/>
            <a:ext cx="3404467" cy="3404467"/>
          </a:xfrm>
          <a:custGeom>
            <a:avLst/>
            <a:gdLst/>
            <a:ahLst/>
            <a:cxnLst/>
            <a:rect r="r" b="b" t="t" l="l"/>
            <a:pathLst>
              <a:path h="3404467" w="3404467">
                <a:moveTo>
                  <a:pt x="0" y="0"/>
                </a:moveTo>
                <a:lnTo>
                  <a:pt x="3404466" y="0"/>
                </a:lnTo>
                <a:lnTo>
                  <a:pt x="3404466" y="3404466"/>
                </a:lnTo>
                <a:lnTo>
                  <a:pt x="0" y="340446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2057400" y="431671"/>
            <a:ext cx="13438897" cy="9686149"/>
          </a:xfrm>
          <a:custGeom>
            <a:avLst/>
            <a:gdLst/>
            <a:ahLst/>
            <a:cxnLst/>
            <a:rect r="r" b="b" t="t" l="l"/>
            <a:pathLst>
              <a:path h="9686149" w="13438897">
                <a:moveTo>
                  <a:pt x="0" y="0"/>
                </a:moveTo>
                <a:lnTo>
                  <a:pt x="13438897" y="0"/>
                </a:lnTo>
                <a:lnTo>
                  <a:pt x="13438897" y="9686148"/>
                </a:lnTo>
                <a:lnTo>
                  <a:pt x="0" y="9686148"/>
                </a:lnTo>
                <a:lnTo>
                  <a:pt x="0" y="0"/>
                </a:lnTo>
                <a:close/>
              </a:path>
            </a:pathLst>
          </a:custGeom>
          <a:blipFill>
            <a:blip r:embed="rId4"/>
            <a:stretch>
              <a:fillRect l="0" t="0" r="0" b="0"/>
            </a:stretch>
          </a:blipFill>
        </p:spPr>
      </p:sp>
      <p:sp>
        <p:nvSpPr>
          <p:cNvPr name="Freeform 5" id="5"/>
          <p:cNvSpPr/>
          <p:nvPr/>
        </p:nvSpPr>
        <p:spPr>
          <a:xfrm flipH="false" flipV="false" rot="0">
            <a:off x="16230600" y="7200900"/>
            <a:ext cx="4114800" cy="4114800"/>
          </a:xfrm>
          <a:custGeom>
            <a:avLst/>
            <a:gdLst/>
            <a:ahLst/>
            <a:cxnLst/>
            <a:rect r="r" b="b" t="t" l="l"/>
            <a:pathLst>
              <a:path h="4114800" w="4114800">
                <a:moveTo>
                  <a:pt x="0" y="0"/>
                </a:moveTo>
                <a:lnTo>
                  <a:pt x="4114800" y="0"/>
                </a:lnTo>
                <a:lnTo>
                  <a:pt x="4114800"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0">
            <a:off x="16585767" y="7556067"/>
            <a:ext cx="3404467" cy="3404467"/>
          </a:xfrm>
          <a:custGeom>
            <a:avLst/>
            <a:gdLst/>
            <a:ahLst/>
            <a:cxnLst/>
            <a:rect r="r" b="b" t="t" l="l"/>
            <a:pathLst>
              <a:path h="3404467" w="3404467">
                <a:moveTo>
                  <a:pt x="0" y="0"/>
                </a:moveTo>
                <a:lnTo>
                  <a:pt x="3404466" y="0"/>
                </a:lnTo>
                <a:lnTo>
                  <a:pt x="3404466" y="3404466"/>
                </a:lnTo>
                <a:lnTo>
                  <a:pt x="0" y="340446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7" id="7"/>
          <p:cNvGrpSpPr/>
          <p:nvPr/>
        </p:nvGrpSpPr>
        <p:grpSpPr>
          <a:xfrm rot="0">
            <a:off x="12319137" y="9258300"/>
            <a:ext cx="3911463" cy="3911463"/>
            <a:chOff x="0" y="0"/>
            <a:chExt cx="812800" cy="812800"/>
          </a:xfrm>
        </p:grpSpPr>
        <p:sp>
          <p:nvSpPr>
            <p:cNvPr name="Freeform 8" id="8"/>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474646"/>
            </a:solidFill>
          </p:spPr>
        </p:sp>
        <p:sp>
          <p:nvSpPr>
            <p:cNvPr name="TextBox 9" id="9"/>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sp>
        <p:nvSpPr>
          <p:cNvPr name="Freeform 10" id="10"/>
          <p:cNvSpPr/>
          <p:nvPr/>
        </p:nvSpPr>
        <p:spPr>
          <a:xfrm flipH="false" flipV="false" rot="0">
            <a:off x="16998733" y="7969033"/>
            <a:ext cx="2578533" cy="2578533"/>
          </a:xfrm>
          <a:custGeom>
            <a:avLst/>
            <a:gdLst/>
            <a:ahLst/>
            <a:cxnLst/>
            <a:rect r="r" b="b" t="t" l="l"/>
            <a:pathLst>
              <a:path h="2578533" w="2578533">
                <a:moveTo>
                  <a:pt x="0" y="0"/>
                </a:moveTo>
                <a:lnTo>
                  <a:pt x="2578534" y="0"/>
                </a:lnTo>
                <a:lnTo>
                  <a:pt x="2578534" y="2578534"/>
                </a:lnTo>
                <a:lnTo>
                  <a:pt x="0" y="257853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1" id="11"/>
          <p:cNvSpPr/>
          <p:nvPr/>
        </p:nvSpPr>
        <p:spPr>
          <a:xfrm flipH="false" flipV="false" rot="0">
            <a:off x="-1289267" y="-490830"/>
            <a:ext cx="2578533" cy="2578533"/>
          </a:xfrm>
          <a:custGeom>
            <a:avLst/>
            <a:gdLst/>
            <a:ahLst/>
            <a:cxnLst/>
            <a:rect r="r" b="b" t="t" l="l"/>
            <a:pathLst>
              <a:path h="2578533" w="2578533">
                <a:moveTo>
                  <a:pt x="0" y="0"/>
                </a:moveTo>
                <a:lnTo>
                  <a:pt x="2578534" y="0"/>
                </a:lnTo>
                <a:lnTo>
                  <a:pt x="2578534" y="2578534"/>
                </a:lnTo>
                <a:lnTo>
                  <a:pt x="0" y="257853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12" id="12"/>
          <p:cNvGrpSpPr/>
          <p:nvPr/>
        </p:nvGrpSpPr>
        <p:grpSpPr>
          <a:xfrm rot="0">
            <a:off x="2129385" y="-2859528"/>
            <a:ext cx="3911463" cy="3911463"/>
            <a:chOff x="0" y="0"/>
            <a:chExt cx="812800" cy="812800"/>
          </a:xfrm>
        </p:grpSpPr>
        <p:sp>
          <p:nvSpPr>
            <p:cNvPr name="Freeform 13" id="1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474646"/>
            </a:solidFill>
          </p:spPr>
        </p:sp>
        <p:sp>
          <p:nvSpPr>
            <p:cNvPr name="TextBox 14" id="14"/>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A6A6A6">
                <a:alpha val="100000"/>
              </a:srgbClr>
            </a:gs>
            <a:gs pos="100000">
              <a:srgbClr val="FFFFFF">
                <a:alpha val="100000"/>
              </a:srgbClr>
            </a:gs>
          </a:gsLst>
          <a:lin ang="0"/>
        </a:gradFill>
      </p:bgPr>
    </p:bg>
    <p:spTree>
      <p:nvGrpSpPr>
        <p:cNvPr id="1" name=""/>
        <p:cNvGrpSpPr/>
        <p:nvPr/>
      </p:nvGrpSpPr>
      <p:grpSpPr>
        <a:xfrm>
          <a:off x="0" y="0"/>
          <a:ext cx="0" cy="0"/>
          <a:chOff x="0" y="0"/>
          <a:chExt cx="0" cy="0"/>
        </a:xfrm>
      </p:grpSpPr>
      <p:sp>
        <p:nvSpPr>
          <p:cNvPr name="Freeform 2" id="2"/>
          <p:cNvSpPr/>
          <p:nvPr/>
        </p:nvSpPr>
        <p:spPr>
          <a:xfrm flipH="false" flipV="false" rot="0">
            <a:off x="-2057400" y="-1258963"/>
            <a:ext cx="4114800" cy="4114800"/>
          </a:xfrm>
          <a:custGeom>
            <a:avLst/>
            <a:gdLst/>
            <a:ahLst/>
            <a:cxnLst/>
            <a:rect r="r" b="b" t="t" l="l"/>
            <a:pathLst>
              <a:path h="4114800" w="4114800">
                <a:moveTo>
                  <a:pt x="0" y="0"/>
                </a:moveTo>
                <a:lnTo>
                  <a:pt x="4114800" y="0"/>
                </a:lnTo>
                <a:lnTo>
                  <a:pt x="4114800"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702233" y="-903796"/>
            <a:ext cx="3404467" cy="3404467"/>
          </a:xfrm>
          <a:custGeom>
            <a:avLst/>
            <a:gdLst/>
            <a:ahLst/>
            <a:cxnLst/>
            <a:rect r="r" b="b" t="t" l="l"/>
            <a:pathLst>
              <a:path h="3404467" w="3404467">
                <a:moveTo>
                  <a:pt x="0" y="0"/>
                </a:moveTo>
                <a:lnTo>
                  <a:pt x="3404466" y="0"/>
                </a:lnTo>
                <a:lnTo>
                  <a:pt x="3404466" y="3404466"/>
                </a:lnTo>
                <a:lnTo>
                  <a:pt x="0" y="340446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16230600" y="7200900"/>
            <a:ext cx="4114800" cy="4114800"/>
          </a:xfrm>
          <a:custGeom>
            <a:avLst/>
            <a:gdLst/>
            <a:ahLst/>
            <a:cxnLst/>
            <a:rect r="r" b="b" t="t" l="l"/>
            <a:pathLst>
              <a:path h="4114800" w="4114800">
                <a:moveTo>
                  <a:pt x="0" y="0"/>
                </a:moveTo>
                <a:lnTo>
                  <a:pt x="4114800" y="0"/>
                </a:lnTo>
                <a:lnTo>
                  <a:pt x="4114800"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0">
            <a:off x="16585767" y="7556067"/>
            <a:ext cx="3404467" cy="3404467"/>
          </a:xfrm>
          <a:custGeom>
            <a:avLst/>
            <a:gdLst/>
            <a:ahLst/>
            <a:cxnLst/>
            <a:rect r="r" b="b" t="t" l="l"/>
            <a:pathLst>
              <a:path h="3404467" w="3404467">
                <a:moveTo>
                  <a:pt x="0" y="0"/>
                </a:moveTo>
                <a:lnTo>
                  <a:pt x="3404466" y="0"/>
                </a:lnTo>
                <a:lnTo>
                  <a:pt x="3404466" y="3404466"/>
                </a:lnTo>
                <a:lnTo>
                  <a:pt x="0" y="340446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6" id="6"/>
          <p:cNvGrpSpPr/>
          <p:nvPr/>
        </p:nvGrpSpPr>
        <p:grpSpPr>
          <a:xfrm rot="0">
            <a:off x="12319137" y="9258300"/>
            <a:ext cx="3911463" cy="3911463"/>
            <a:chOff x="0" y="0"/>
            <a:chExt cx="812800" cy="812800"/>
          </a:xfrm>
        </p:grpSpPr>
        <p:sp>
          <p:nvSpPr>
            <p:cNvPr name="Freeform 7" id="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474646"/>
            </a:solidFill>
          </p:spPr>
        </p:sp>
        <p:sp>
          <p:nvSpPr>
            <p:cNvPr name="TextBox 8" id="8"/>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sp>
        <p:nvSpPr>
          <p:cNvPr name="Freeform 9" id="9"/>
          <p:cNvSpPr/>
          <p:nvPr/>
        </p:nvSpPr>
        <p:spPr>
          <a:xfrm flipH="false" flipV="false" rot="0">
            <a:off x="16998733" y="7969033"/>
            <a:ext cx="2578533" cy="2578533"/>
          </a:xfrm>
          <a:custGeom>
            <a:avLst/>
            <a:gdLst/>
            <a:ahLst/>
            <a:cxnLst/>
            <a:rect r="r" b="b" t="t" l="l"/>
            <a:pathLst>
              <a:path h="2578533" w="2578533">
                <a:moveTo>
                  <a:pt x="0" y="0"/>
                </a:moveTo>
                <a:lnTo>
                  <a:pt x="2578534" y="0"/>
                </a:lnTo>
                <a:lnTo>
                  <a:pt x="2578534" y="2578534"/>
                </a:lnTo>
                <a:lnTo>
                  <a:pt x="0" y="257853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0" id="10"/>
          <p:cNvSpPr/>
          <p:nvPr/>
        </p:nvSpPr>
        <p:spPr>
          <a:xfrm flipH="false" flipV="false" rot="0">
            <a:off x="-1289267" y="-490830"/>
            <a:ext cx="2578533" cy="2578533"/>
          </a:xfrm>
          <a:custGeom>
            <a:avLst/>
            <a:gdLst/>
            <a:ahLst/>
            <a:cxnLst/>
            <a:rect r="r" b="b" t="t" l="l"/>
            <a:pathLst>
              <a:path h="2578533" w="2578533">
                <a:moveTo>
                  <a:pt x="0" y="0"/>
                </a:moveTo>
                <a:lnTo>
                  <a:pt x="2578534" y="0"/>
                </a:lnTo>
                <a:lnTo>
                  <a:pt x="2578534" y="2578534"/>
                </a:lnTo>
                <a:lnTo>
                  <a:pt x="0" y="257853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11" id="11"/>
          <p:cNvGrpSpPr/>
          <p:nvPr/>
        </p:nvGrpSpPr>
        <p:grpSpPr>
          <a:xfrm rot="0">
            <a:off x="2129385" y="-2859528"/>
            <a:ext cx="3911463" cy="3911463"/>
            <a:chOff x="0" y="0"/>
            <a:chExt cx="812800" cy="812800"/>
          </a:xfrm>
        </p:grpSpPr>
        <p:sp>
          <p:nvSpPr>
            <p:cNvPr name="Freeform 12" id="12"/>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474646"/>
            </a:solidFill>
          </p:spPr>
        </p:sp>
        <p:sp>
          <p:nvSpPr>
            <p:cNvPr name="TextBox 13" id="13"/>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sp>
        <p:nvSpPr>
          <p:cNvPr name="TextBox 14" id="14"/>
          <p:cNvSpPr txBox="true"/>
          <p:nvPr/>
        </p:nvSpPr>
        <p:spPr>
          <a:xfrm rot="0">
            <a:off x="541315" y="1351116"/>
            <a:ext cx="7087602" cy="1320776"/>
          </a:xfrm>
          <a:prstGeom prst="rect">
            <a:avLst/>
          </a:prstGeom>
        </p:spPr>
        <p:txBody>
          <a:bodyPr anchor="t" rtlCol="false" tIns="0" lIns="0" bIns="0" rIns="0">
            <a:spAutoFit/>
          </a:bodyPr>
          <a:lstStyle/>
          <a:p>
            <a:pPr algn="ctr">
              <a:lnSpc>
                <a:spcPts val="10733"/>
              </a:lnSpc>
            </a:pPr>
            <a:r>
              <a:rPr lang="en-US" b="true" sz="7666" i="true">
                <a:solidFill>
                  <a:srgbClr val="000000"/>
                </a:solidFill>
                <a:latin typeface="Canva Sans Bold Italics"/>
                <a:ea typeface="Canva Sans Bold Italics"/>
                <a:cs typeface="Canva Sans Bold Italics"/>
                <a:sym typeface="Canva Sans Bold Italics"/>
              </a:rPr>
              <a:t>Bagging</a:t>
            </a:r>
          </a:p>
        </p:txBody>
      </p:sp>
      <p:sp>
        <p:nvSpPr>
          <p:cNvPr name="TextBox 15" id="15"/>
          <p:cNvSpPr txBox="true"/>
          <p:nvPr/>
        </p:nvSpPr>
        <p:spPr>
          <a:xfrm rot="0">
            <a:off x="1028700" y="4219153"/>
            <a:ext cx="16732954" cy="3609157"/>
          </a:xfrm>
          <a:prstGeom prst="rect">
            <a:avLst/>
          </a:prstGeom>
        </p:spPr>
        <p:txBody>
          <a:bodyPr anchor="t" rtlCol="false" tIns="0" lIns="0" bIns="0" rIns="0">
            <a:spAutoFit/>
          </a:bodyPr>
          <a:lstStyle/>
          <a:p>
            <a:pPr algn="l">
              <a:lnSpc>
                <a:spcPts val="5786"/>
              </a:lnSpc>
            </a:pPr>
            <a:r>
              <a:rPr lang="en-US" sz="4133" b="true">
                <a:solidFill>
                  <a:srgbClr val="000000"/>
                </a:solidFill>
                <a:latin typeface="Canva Sans Bold"/>
                <a:ea typeface="Canva Sans Bold"/>
                <a:cs typeface="Canva Sans Bold"/>
                <a:sym typeface="Canva Sans Bold"/>
              </a:rPr>
              <a:t>Bagging, also known as bootstrap aggregating, is the aggregation of multiple v</a:t>
            </a:r>
            <a:r>
              <a:rPr lang="en-US" b="true" sz="4133">
                <a:solidFill>
                  <a:srgbClr val="000000"/>
                </a:solidFill>
                <a:latin typeface="Canva Sans Bold"/>
                <a:ea typeface="Canva Sans Bold"/>
                <a:cs typeface="Canva Sans Bold"/>
                <a:sym typeface="Canva Sans Bold"/>
              </a:rPr>
              <a:t>ersions of a predicted model. Each model is trained individually, and combined using an averaging process. The primary focus of bagging is to achieve less variance than any model has individually.</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A6A6A6">
                <a:alpha val="100000"/>
              </a:srgbClr>
            </a:gs>
            <a:gs pos="100000">
              <a:srgbClr val="FFFFFF">
                <a:alpha val="100000"/>
              </a:srgbClr>
            </a:gs>
          </a:gsLst>
          <a:lin ang="0"/>
        </a:gradFill>
      </p:bgPr>
    </p:bg>
    <p:spTree>
      <p:nvGrpSpPr>
        <p:cNvPr id="1" name=""/>
        <p:cNvGrpSpPr/>
        <p:nvPr/>
      </p:nvGrpSpPr>
      <p:grpSpPr>
        <a:xfrm>
          <a:off x="0" y="0"/>
          <a:ext cx="0" cy="0"/>
          <a:chOff x="0" y="0"/>
          <a:chExt cx="0" cy="0"/>
        </a:xfrm>
      </p:grpSpPr>
      <p:sp>
        <p:nvSpPr>
          <p:cNvPr name="Freeform 2" id="2"/>
          <p:cNvSpPr/>
          <p:nvPr/>
        </p:nvSpPr>
        <p:spPr>
          <a:xfrm flipH="false" flipV="false" rot="0">
            <a:off x="-2057400" y="-1258963"/>
            <a:ext cx="4114800" cy="4114800"/>
          </a:xfrm>
          <a:custGeom>
            <a:avLst/>
            <a:gdLst/>
            <a:ahLst/>
            <a:cxnLst/>
            <a:rect r="r" b="b" t="t" l="l"/>
            <a:pathLst>
              <a:path h="4114800" w="4114800">
                <a:moveTo>
                  <a:pt x="0" y="0"/>
                </a:moveTo>
                <a:lnTo>
                  <a:pt x="4114800" y="0"/>
                </a:lnTo>
                <a:lnTo>
                  <a:pt x="4114800"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702233" y="-903796"/>
            <a:ext cx="3404467" cy="3404467"/>
          </a:xfrm>
          <a:custGeom>
            <a:avLst/>
            <a:gdLst/>
            <a:ahLst/>
            <a:cxnLst/>
            <a:rect r="r" b="b" t="t" l="l"/>
            <a:pathLst>
              <a:path h="3404467" w="3404467">
                <a:moveTo>
                  <a:pt x="0" y="0"/>
                </a:moveTo>
                <a:lnTo>
                  <a:pt x="3404466" y="0"/>
                </a:lnTo>
                <a:lnTo>
                  <a:pt x="3404466" y="3404466"/>
                </a:lnTo>
                <a:lnTo>
                  <a:pt x="0" y="340446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16230600" y="7200900"/>
            <a:ext cx="4114800" cy="4114800"/>
          </a:xfrm>
          <a:custGeom>
            <a:avLst/>
            <a:gdLst/>
            <a:ahLst/>
            <a:cxnLst/>
            <a:rect r="r" b="b" t="t" l="l"/>
            <a:pathLst>
              <a:path h="4114800" w="4114800">
                <a:moveTo>
                  <a:pt x="0" y="0"/>
                </a:moveTo>
                <a:lnTo>
                  <a:pt x="4114800" y="0"/>
                </a:lnTo>
                <a:lnTo>
                  <a:pt x="4114800"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0">
            <a:off x="16585767" y="7556067"/>
            <a:ext cx="3404467" cy="3404467"/>
          </a:xfrm>
          <a:custGeom>
            <a:avLst/>
            <a:gdLst/>
            <a:ahLst/>
            <a:cxnLst/>
            <a:rect r="r" b="b" t="t" l="l"/>
            <a:pathLst>
              <a:path h="3404467" w="3404467">
                <a:moveTo>
                  <a:pt x="0" y="0"/>
                </a:moveTo>
                <a:lnTo>
                  <a:pt x="3404466" y="0"/>
                </a:lnTo>
                <a:lnTo>
                  <a:pt x="3404466" y="3404466"/>
                </a:lnTo>
                <a:lnTo>
                  <a:pt x="0" y="340446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6" id="6"/>
          <p:cNvGrpSpPr/>
          <p:nvPr/>
        </p:nvGrpSpPr>
        <p:grpSpPr>
          <a:xfrm rot="0">
            <a:off x="12319137" y="9258300"/>
            <a:ext cx="3911463" cy="3911463"/>
            <a:chOff x="0" y="0"/>
            <a:chExt cx="812800" cy="812800"/>
          </a:xfrm>
        </p:grpSpPr>
        <p:sp>
          <p:nvSpPr>
            <p:cNvPr name="Freeform 7" id="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474646"/>
            </a:solidFill>
          </p:spPr>
        </p:sp>
        <p:sp>
          <p:nvSpPr>
            <p:cNvPr name="TextBox 8" id="8"/>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sp>
        <p:nvSpPr>
          <p:cNvPr name="Freeform 9" id="9"/>
          <p:cNvSpPr/>
          <p:nvPr/>
        </p:nvSpPr>
        <p:spPr>
          <a:xfrm flipH="false" flipV="false" rot="0">
            <a:off x="16998733" y="7969033"/>
            <a:ext cx="2578533" cy="2578533"/>
          </a:xfrm>
          <a:custGeom>
            <a:avLst/>
            <a:gdLst/>
            <a:ahLst/>
            <a:cxnLst/>
            <a:rect r="r" b="b" t="t" l="l"/>
            <a:pathLst>
              <a:path h="2578533" w="2578533">
                <a:moveTo>
                  <a:pt x="0" y="0"/>
                </a:moveTo>
                <a:lnTo>
                  <a:pt x="2578534" y="0"/>
                </a:lnTo>
                <a:lnTo>
                  <a:pt x="2578534" y="2578534"/>
                </a:lnTo>
                <a:lnTo>
                  <a:pt x="0" y="257853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0" id="10"/>
          <p:cNvSpPr/>
          <p:nvPr/>
        </p:nvSpPr>
        <p:spPr>
          <a:xfrm flipH="false" flipV="false" rot="0">
            <a:off x="-1289267" y="-490830"/>
            <a:ext cx="2578533" cy="2578533"/>
          </a:xfrm>
          <a:custGeom>
            <a:avLst/>
            <a:gdLst/>
            <a:ahLst/>
            <a:cxnLst/>
            <a:rect r="r" b="b" t="t" l="l"/>
            <a:pathLst>
              <a:path h="2578533" w="2578533">
                <a:moveTo>
                  <a:pt x="0" y="0"/>
                </a:moveTo>
                <a:lnTo>
                  <a:pt x="2578534" y="0"/>
                </a:lnTo>
                <a:lnTo>
                  <a:pt x="2578534" y="2578534"/>
                </a:lnTo>
                <a:lnTo>
                  <a:pt x="0" y="257853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11" id="11"/>
          <p:cNvGrpSpPr/>
          <p:nvPr/>
        </p:nvGrpSpPr>
        <p:grpSpPr>
          <a:xfrm rot="0">
            <a:off x="2129385" y="-2859528"/>
            <a:ext cx="3911463" cy="3911463"/>
            <a:chOff x="0" y="0"/>
            <a:chExt cx="812800" cy="812800"/>
          </a:xfrm>
        </p:grpSpPr>
        <p:sp>
          <p:nvSpPr>
            <p:cNvPr name="Freeform 12" id="12"/>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474646"/>
            </a:solidFill>
          </p:spPr>
        </p:sp>
        <p:sp>
          <p:nvSpPr>
            <p:cNvPr name="TextBox 13" id="13"/>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sp>
        <p:nvSpPr>
          <p:cNvPr name="Freeform 14" id="14"/>
          <p:cNvSpPr/>
          <p:nvPr/>
        </p:nvSpPr>
        <p:spPr>
          <a:xfrm flipH="false" flipV="false" rot="0">
            <a:off x="1673333" y="300711"/>
            <a:ext cx="14528367" cy="9685578"/>
          </a:xfrm>
          <a:custGeom>
            <a:avLst/>
            <a:gdLst/>
            <a:ahLst/>
            <a:cxnLst/>
            <a:rect r="r" b="b" t="t" l="l"/>
            <a:pathLst>
              <a:path h="9685578" w="14528367">
                <a:moveTo>
                  <a:pt x="0" y="0"/>
                </a:moveTo>
                <a:lnTo>
                  <a:pt x="14528367" y="0"/>
                </a:lnTo>
                <a:lnTo>
                  <a:pt x="14528367" y="9685578"/>
                </a:lnTo>
                <a:lnTo>
                  <a:pt x="0" y="9685578"/>
                </a:lnTo>
                <a:lnTo>
                  <a:pt x="0" y="0"/>
                </a:lnTo>
                <a:close/>
              </a:path>
            </a:pathLst>
          </a:custGeom>
          <a:blipFill>
            <a:blip r:embed="rId4"/>
            <a:stretch>
              <a:fillRect l="0" t="0" r="0" b="0"/>
            </a:stretch>
          </a:blipFill>
        </p:spPr>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A6A6A6">
                <a:alpha val="100000"/>
              </a:srgbClr>
            </a:gs>
            <a:gs pos="100000">
              <a:srgbClr val="FFFFFF">
                <a:alpha val="100000"/>
              </a:srgbClr>
            </a:gs>
          </a:gsLst>
          <a:lin ang="0"/>
        </a:gradFill>
      </p:bgPr>
    </p:bg>
    <p:spTree>
      <p:nvGrpSpPr>
        <p:cNvPr id="1" name=""/>
        <p:cNvGrpSpPr/>
        <p:nvPr/>
      </p:nvGrpSpPr>
      <p:grpSpPr>
        <a:xfrm>
          <a:off x="0" y="0"/>
          <a:ext cx="0" cy="0"/>
          <a:chOff x="0" y="0"/>
          <a:chExt cx="0" cy="0"/>
        </a:xfrm>
      </p:grpSpPr>
      <p:sp>
        <p:nvSpPr>
          <p:cNvPr name="Freeform 2" id="2"/>
          <p:cNvSpPr/>
          <p:nvPr/>
        </p:nvSpPr>
        <p:spPr>
          <a:xfrm flipH="false" flipV="false" rot="0">
            <a:off x="-2057400" y="-1258963"/>
            <a:ext cx="4114800" cy="4114800"/>
          </a:xfrm>
          <a:custGeom>
            <a:avLst/>
            <a:gdLst/>
            <a:ahLst/>
            <a:cxnLst/>
            <a:rect r="r" b="b" t="t" l="l"/>
            <a:pathLst>
              <a:path h="4114800" w="4114800">
                <a:moveTo>
                  <a:pt x="0" y="0"/>
                </a:moveTo>
                <a:lnTo>
                  <a:pt x="4114800" y="0"/>
                </a:lnTo>
                <a:lnTo>
                  <a:pt x="4114800"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702233" y="-903796"/>
            <a:ext cx="3404467" cy="3404467"/>
          </a:xfrm>
          <a:custGeom>
            <a:avLst/>
            <a:gdLst/>
            <a:ahLst/>
            <a:cxnLst/>
            <a:rect r="r" b="b" t="t" l="l"/>
            <a:pathLst>
              <a:path h="3404467" w="3404467">
                <a:moveTo>
                  <a:pt x="0" y="0"/>
                </a:moveTo>
                <a:lnTo>
                  <a:pt x="3404466" y="0"/>
                </a:lnTo>
                <a:lnTo>
                  <a:pt x="3404466" y="3404466"/>
                </a:lnTo>
                <a:lnTo>
                  <a:pt x="0" y="340446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16230600" y="7200900"/>
            <a:ext cx="4114800" cy="4114800"/>
          </a:xfrm>
          <a:custGeom>
            <a:avLst/>
            <a:gdLst/>
            <a:ahLst/>
            <a:cxnLst/>
            <a:rect r="r" b="b" t="t" l="l"/>
            <a:pathLst>
              <a:path h="4114800" w="4114800">
                <a:moveTo>
                  <a:pt x="0" y="0"/>
                </a:moveTo>
                <a:lnTo>
                  <a:pt x="4114800" y="0"/>
                </a:lnTo>
                <a:lnTo>
                  <a:pt x="4114800"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0">
            <a:off x="16585767" y="7556067"/>
            <a:ext cx="3404467" cy="3404467"/>
          </a:xfrm>
          <a:custGeom>
            <a:avLst/>
            <a:gdLst/>
            <a:ahLst/>
            <a:cxnLst/>
            <a:rect r="r" b="b" t="t" l="l"/>
            <a:pathLst>
              <a:path h="3404467" w="3404467">
                <a:moveTo>
                  <a:pt x="0" y="0"/>
                </a:moveTo>
                <a:lnTo>
                  <a:pt x="3404466" y="0"/>
                </a:lnTo>
                <a:lnTo>
                  <a:pt x="3404466" y="3404466"/>
                </a:lnTo>
                <a:lnTo>
                  <a:pt x="0" y="340446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6" id="6"/>
          <p:cNvGrpSpPr/>
          <p:nvPr/>
        </p:nvGrpSpPr>
        <p:grpSpPr>
          <a:xfrm rot="0">
            <a:off x="12319137" y="9258300"/>
            <a:ext cx="3911463" cy="3911463"/>
            <a:chOff x="0" y="0"/>
            <a:chExt cx="812800" cy="812800"/>
          </a:xfrm>
        </p:grpSpPr>
        <p:sp>
          <p:nvSpPr>
            <p:cNvPr name="Freeform 7" id="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474646"/>
            </a:solidFill>
          </p:spPr>
        </p:sp>
        <p:sp>
          <p:nvSpPr>
            <p:cNvPr name="TextBox 8" id="8"/>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sp>
        <p:nvSpPr>
          <p:cNvPr name="Freeform 9" id="9"/>
          <p:cNvSpPr/>
          <p:nvPr/>
        </p:nvSpPr>
        <p:spPr>
          <a:xfrm flipH="false" flipV="false" rot="0">
            <a:off x="16998733" y="7969033"/>
            <a:ext cx="2578533" cy="2578533"/>
          </a:xfrm>
          <a:custGeom>
            <a:avLst/>
            <a:gdLst/>
            <a:ahLst/>
            <a:cxnLst/>
            <a:rect r="r" b="b" t="t" l="l"/>
            <a:pathLst>
              <a:path h="2578533" w="2578533">
                <a:moveTo>
                  <a:pt x="0" y="0"/>
                </a:moveTo>
                <a:lnTo>
                  <a:pt x="2578534" y="0"/>
                </a:lnTo>
                <a:lnTo>
                  <a:pt x="2578534" y="2578534"/>
                </a:lnTo>
                <a:lnTo>
                  <a:pt x="0" y="257853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0" id="10"/>
          <p:cNvSpPr/>
          <p:nvPr/>
        </p:nvSpPr>
        <p:spPr>
          <a:xfrm flipH="false" flipV="false" rot="0">
            <a:off x="-1289267" y="-490830"/>
            <a:ext cx="2578533" cy="2578533"/>
          </a:xfrm>
          <a:custGeom>
            <a:avLst/>
            <a:gdLst/>
            <a:ahLst/>
            <a:cxnLst/>
            <a:rect r="r" b="b" t="t" l="l"/>
            <a:pathLst>
              <a:path h="2578533" w="2578533">
                <a:moveTo>
                  <a:pt x="0" y="0"/>
                </a:moveTo>
                <a:lnTo>
                  <a:pt x="2578534" y="0"/>
                </a:lnTo>
                <a:lnTo>
                  <a:pt x="2578534" y="2578534"/>
                </a:lnTo>
                <a:lnTo>
                  <a:pt x="0" y="257853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11" id="11"/>
          <p:cNvGrpSpPr/>
          <p:nvPr/>
        </p:nvGrpSpPr>
        <p:grpSpPr>
          <a:xfrm rot="0">
            <a:off x="2129385" y="-2859528"/>
            <a:ext cx="3911463" cy="3911463"/>
            <a:chOff x="0" y="0"/>
            <a:chExt cx="812800" cy="812800"/>
          </a:xfrm>
        </p:grpSpPr>
        <p:sp>
          <p:nvSpPr>
            <p:cNvPr name="Freeform 12" id="12"/>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474646"/>
            </a:solidFill>
          </p:spPr>
        </p:sp>
        <p:sp>
          <p:nvSpPr>
            <p:cNvPr name="TextBox 13" id="13"/>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sp>
        <p:nvSpPr>
          <p:cNvPr name="TextBox 14" id="14"/>
          <p:cNvSpPr txBox="true"/>
          <p:nvPr/>
        </p:nvSpPr>
        <p:spPr>
          <a:xfrm rot="0">
            <a:off x="1452547" y="1796379"/>
            <a:ext cx="3084569" cy="771525"/>
          </a:xfrm>
          <a:prstGeom prst="rect">
            <a:avLst/>
          </a:prstGeom>
        </p:spPr>
        <p:txBody>
          <a:bodyPr anchor="t" rtlCol="false" tIns="0" lIns="0" bIns="0" rIns="0">
            <a:spAutoFit/>
          </a:bodyPr>
          <a:lstStyle/>
          <a:p>
            <a:pPr algn="ctr">
              <a:lnSpc>
                <a:spcPts val="6300"/>
              </a:lnSpc>
            </a:pPr>
            <a:r>
              <a:rPr lang="en-US" b="true" sz="4500" i="true">
                <a:solidFill>
                  <a:srgbClr val="000000"/>
                </a:solidFill>
                <a:latin typeface="Canva Sans Bold Italics"/>
                <a:ea typeface="Canva Sans Bold Italics"/>
                <a:cs typeface="Canva Sans Bold Italics"/>
                <a:sym typeface="Canva Sans Bold Italics"/>
              </a:rPr>
              <a:t>Boosting</a:t>
            </a:r>
          </a:p>
        </p:txBody>
      </p:sp>
      <p:sp>
        <p:nvSpPr>
          <p:cNvPr name="TextBox 15" id="15"/>
          <p:cNvSpPr txBox="true"/>
          <p:nvPr/>
        </p:nvSpPr>
        <p:spPr>
          <a:xfrm rot="0">
            <a:off x="1702233" y="3321873"/>
            <a:ext cx="15557067" cy="4068700"/>
          </a:xfrm>
          <a:prstGeom prst="rect">
            <a:avLst/>
          </a:prstGeom>
        </p:spPr>
        <p:txBody>
          <a:bodyPr anchor="t" rtlCol="false" tIns="0" lIns="0" bIns="0" rIns="0">
            <a:spAutoFit/>
          </a:bodyPr>
          <a:lstStyle/>
          <a:p>
            <a:pPr algn="l">
              <a:lnSpc>
                <a:spcPts val="5408"/>
              </a:lnSpc>
            </a:pPr>
            <a:r>
              <a:rPr lang="en-US" sz="3862" b="true">
                <a:solidFill>
                  <a:srgbClr val="000000"/>
                </a:solidFill>
                <a:latin typeface="Canva Sans Bold"/>
                <a:ea typeface="Canva Sans Bold"/>
                <a:cs typeface="Canva Sans Bold"/>
                <a:sym typeface="Canva Sans Bold"/>
              </a:rPr>
              <a:t>Boosting is an ensemble learning method that sequentially combines sev</a:t>
            </a:r>
            <a:r>
              <a:rPr lang="en-US" b="true" sz="3862">
                <a:solidFill>
                  <a:srgbClr val="000000"/>
                </a:solidFill>
                <a:latin typeface="Canva Sans Bold"/>
                <a:ea typeface="Canva Sans Bold"/>
                <a:cs typeface="Canva Sans Bold"/>
                <a:sym typeface="Canva Sans Bold"/>
              </a:rPr>
              <a:t>eral weak learners (simple models) into a single, strong model by having each new learner focus on correcting the previous ones' mistakes. This process improves overall predictive accuracy, reducing errors by focusing on misclassified data points. </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A6A6A6">
                <a:alpha val="100000"/>
              </a:srgbClr>
            </a:gs>
            <a:gs pos="100000">
              <a:srgbClr val="FFFFFF">
                <a:alpha val="100000"/>
              </a:srgbClr>
            </a:gs>
          </a:gsLst>
          <a:lin ang="0"/>
        </a:gradFill>
      </p:bgPr>
    </p:bg>
    <p:spTree>
      <p:nvGrpSpPr>
        <p:cNvPr id="1" name=""/>
        <p:cNvGrpSpPr/>
        <p:nvPr/>
      </p:nvGrpSpPr>
      <p:grpSpPr>
        <a:xfrm>
          <a:off x="0" y="0"/>
          <a:ext cx="0" cy="0"/>
          <a:chOff x="0" y="0"/>
          <a:chExt cx="0" cy="0"/>
        </a:xfrm>
      </p:grpSpPr>
      <p:sp>
        <p:nvSpPr>
          <p:cNvPr name="Freeform 2" id="2"/>
          <p:cNvSpPr/>
          <p:nvPr/>
        </p:nvSpPr>
        <p:spPr>
          <a:xfrm flipH="false" flipV="false" rot="0">
            <a:off x="-2057400" y="-1258963"/>
            <a:ext cx="4114800" cy="4114800"/>
          </a:xfrm>
          <a:custGeom>
            <a:avLst/>
            <a:gdLst/>
            <a:ahLst/>
            <a:cxnLst/>
            <a:rect r="r" b="b" t="t" l="l"/>
            <a:pathLst>
              <a:path h="4114800" w="4114800">
                <a:moveTo>
                  <a:pt x="0" y="0"/>
                </a:moveTo>
                <a:lnTo>
                  <a:pt x="4114800" y="0"/>
                </a:lnTo>
                <a:lnTo>
                  <a:pt x="4114800"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702233" y="-903796"/>
            <a:ext cx="3404467" cy="3404467"/>
          </a:xfrm>
          <a:custGeom>
            <a:avLst/>
            <a:gdLst/>
            <a:ahLst/>
            <a:cxnLst/>
            <a:rect r="r" b="b" t="t" l="l"/>
            <a:pathLst>
              <a:path h="3404467" w="3404467">
                <a:moveTo>
                  <a:pt x="0" y="0"/>
                </a:moveTo>
                <a:lnTo>
                  <a:pt x="3404466" y="0"/>
                </a:lnTo>
                <a:lnTo>
                  <a:pt x="3404466" y="3404466"/>
                </a:lnTo>
                <a:lnTo>
                  <a:pt x="0" y="340446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3381595" y="304184"/>
            <a:ext cx="9796698" cy="9678632"/>
          </a:xfrm>
          <a:custGeom>
            <a:avLst/>
            <a:gdLst/>
            <a:ahLst/>
            <a:cxnLst/>
            <a:rect r="r" b="b" t="t" l="l"/>
            <a:pathLst>
              <a:path h="9678632" w="9796698">
                <a:moveTo>
                  <a:pt x="0" y="0"/>
                </a:moveTo>
                <a:lnTo>
                  <a:pt x="9796698" y="0"/>
                </a:lnTo>
                <a:lnTo>
                  <a:pt x="9796698" y="9678632"/>
                </a:lnTo>
                <a:lnTo>
                  <a:pt x="0" y="9678632"/>
                </a:lnTo>
                <a:lnTo>
                  <a:pt x="0" y="0"/>
                </a:lnTo>
                <a:close/>
              </a:path>
            </a:pathLst>
          </a:custGeom>
          <a:blipFill>
            <a:blip r:embed="rId4"/>
            <a:stretch>
              <a:fillRect l="0" t="0" r="-254" b="0"/>
            </a:stretch>
          </a:blipFill>
        </p:spPr>
      </p:sp>
      <p:sp>
        <p:nvSpPr>
          <p:cNvPr name="Freeform 5" id="5"/>
          <p:cNvSpPr/>
          <p:nvPr/>
        </p:nvSpPr>
        <p:spPr>
          <a:xfrm flipH="false" flipV="false" rot="0">
            <a:off x="16230600" y="7200900"/>
            <a:ext cx="4114800" cy="4114800"/>
          </a:xfrm>
          <a:custGeom>
            <a:avLst/>
            <a:gdLst/>
            <a:ahLst/>
            <a:cxnLst/>
            <a:rect r="r" b="b" t="t" l="l"/>
            <a:pathLst>
              <a:path h="4114800" w="4114800">
                <a:moveTo>
                  <a:pt x="0" y="0"/>
                </a:moveTo>
                <a:lnTo>
                  <a:pt x="4114800" y="0"/>
                </a:lnTo>
                <a:lnTo>
                  <a:pt x="4114800"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0">
            <a:off x="16585767" y="7556067"/>
            <a:ext cx="3404467" cy="3404467"/>
          </a:xfrm>
          <a:custGeom>
            <a:avLst/>
            <a:gdLst/>
            <a:ahLst/>
            <a:cxnLst/>
            <a:rect r="r" b="b" t="t" l="l"/>
            <a:pathLst>
              <a:path h="3404467" w="3404467">
                <a:moveTo>
                  <a:pt x="0" y="0"/>
                </a:moveTo>
                <a:lnTo>
                  <a:pt x="3404466" y="0"/>
                </a:lnTo>
                <a:lnTo>
                  <a:pt x="3404466" y="3404466"/>
                </a:lnTo>
                <a:lnTo>
                  <a:pt x="0" y="340446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7" id="7"/>
          <p:cNvGrpSpPr/>
          <p:nvPr/>
        </p:nvGrpSpPr>
        <p:grpSpPr>
          <a:xfrm rot="0">
            <a:off x="12319137" y="9258300"/>
            <a:ext cx="3911463" cy="3911463"/>
            <a:chOff x="0" y="0"/>
            <a:chExt cx="812800" cy="812800"/>
          </a:xfrm>
        </p:grpSpPr>
        <p:sp>
          <p:nvSpPr>
            <p:cNvPr name="Freeform 8" id="8"/>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474646"/>
            </a:solidFill>
          </p:spPr>
        </p:sp>
        <p:sp>
          <p:nvSpPr>
            <p:cNvPr name="TextBox 9" id="9"/>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sp>
        <p:nvSpPr>
          <p:cNvPr name="Freeform 10" id="10"/>
          <p:cNvSpPr/>
          <p:nvPr/>
        </p:nvSpPr>
        <p:spPr>
          <a:xfrm flipH="false" flipV="false" rot="0">
            <a:off x="16998733" y="7969033"/>
            <a:ext cx="2578533" cy="2578533"/>
          </a:xfrm>
          <a:custGeom>
            <a:avLst/>
            <a:gdLst/>
            <a:ahLst/>
            <a:cxnLst/>
            <a:rect r="r" b="b" t="t" l="l"/>
            <a:pathLst>
              <a:path h="2578533" w="2578533">
                <a:moveTo>
                  <a:pt x="0" y="0"/>
                </a:moveTo>
                <a:lnTo>
                  <a:pt x="2578534" y="0"/>
                </a:lnTo>
                <a:lnTo>
                  <a:pt x="2578534" y="2578534"/>
                </a:lnTo>
                <a:lnTo>
                  <a:pt x="0" y="257853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1" id="11"/>
          <p:cNvSpPr/>
          <p:nvPr/>
        </p:nvSpPr>
        <p:spPr>
          <a:xfrm flipH="false" flipV="false" rot="0">
            <a:off x="-1289267" y="-490830"/>
            <a:ext cx="2578533" cy="2578533"/>
          </a:xfrm>
          <a:custGeom>
            <a:avLst/>
            <a:gdLst/>
            <a:ahLst/>
            <a:cxnLst/>
            <a:rect r="r" b="b" t="t" l="l"/>
            <a:pathLst>
              <a:path h="2578533" w="2578533">
                <a:moveTo>
                  <a:pt x="0" y="0"/>
                </a:moveTo>
                <a:lnTo>
                  <a:pt x="2578534" y="0"/>
                </a:lnTo>
                <a:lnTo>
                  <a:pt x="2578534" y="2578534"/>
                </a:lnTo>
                <a:lnTo>
                  <a:pt x="0" y="257853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12" id="12"/>
          <p:cNvGrpSpPr/>
          <p:nvPr/>
        </p:nvGrpSpPr>
        <p:grpSpPr>
          <a:xfrm rot="0">
            <a:off x="2129385" y="-2859528"/>
            <a:ext cx="3911463" cy="3911463"/>
            <a:chOff x="0" y="0"/>
            <a:chExt cx="812800" cy="812800"/>
          </a:xfrm>
        </p:grpSpPr>
        <p:sp>
          <p:nvSpPr>
            <p:cNvPr name="Freeform 13" id="1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474646"/>
            </a:solidFill>
          </p:spPr>
        </p:sp>
        <p:sp>
          <p:nvSpPr>
            <p:cNvPr name="TextBox 14" id="14"/>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A6A6A6">
                <a:alpha val="100000"/>
              </a:srgbClr>
            </a:gs>
            <a:gs pos="100000">
              <a:srgbClr val="FFFFFF">
                <a:alpha val="100000"/>
              </a:srgbClr>
            </a:gs>
          </a:gsLst>
          <a:lin ang="0"/>
        </a:gradFill>
      </p:bgPr>
    </p:bg>
    <p:spTree>
      <p:nvGrpSpPr>
        <p:cNvPr id="1" name=""/>
        <p:cNvGrpSpPr/>
        <p:nvPr/>
      </p:nvGrpSpPr>
      <p:grpSpPr>
        <a:xfrm>
          <a:off x="0" y="0"/>
          <a:ext cx="0" cy="0"/>
          <a:chOff x="0" y="0"/>
          <a:chExt cx="0" cy="0"/>
        </a:xfrm>
      </p:grpSpPr>
      <p:sp>
        <p:nvSpPr>
          <p:cNvPr name="Freeform 2" id="2"/>
          <p:cNvSpPr/>
          <p:nvPr/>
        </p:nvSpPr>
        <p:spPr>
          <a:xfrm flipH="false" flipV="false" rot="0">
            <a:off x="-2057400" y="-1258963"/>
            <a:ext cx="4114800" cy="4114800"/>
          </a:xfrm>
          <a:custGeom>
            <a:avLst/>
            <a:gdLst/>
            <a:ahLst/>
            <a:cxnLst/>
            <a:rect r="r" b="b" t="t" l="l"/>
            <a:pathLst>
              <a:path h="4114800" w="4114800">
                <a:moveTo>
                  <a:pt x="0" y="0"/>
                </a:moveTo>
                <a:lnTo>
                  <a:pt x="4114800" y="0"/>
                </a:lnTo>
                <a:lnTo>
                  <a:pt x="4114800"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702233" y="-903796"/>
            <a:ext cx="3404467" cy="3404467"/>
          </a:xfrm>
          <a:custGeom>
            <a:avLst/>
            <a:gdLst/>
            <a:ahLst/>
            <a:cxnLst/>
            <a:rect r="r" b="b" t="t" l="l"/>
            <a:pathLst>
              <a:path h="3404467" w="3404467">
                <a:moveTo>
                  <a:pt x="0" y="0"/>
                </a:moveTo>
                <a:lnTo>
                  <a:pt x="3404466" y="0"/>
                </a:lnTo>
                <a:lnTo>
                  <a:pt x="3404466" y="3404466"/>
                </a:lnTo>
                <a:lnTo>
                  <a:pt x="0" y="340446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16230600" y="7200900"/>
            <a:ext cx="4114800" cy="4114800"/>
          </a:xfrm>
          <a:custGeom>
            <a:avLst/>
            <a:gdLst/>
            <a:ahLst/>
            <a:cxnLst/>
            <a:rect r="r" b="b" t="t" l="l"/>
            <a:pathLst>
              <a:path h="4114800" w="4114800">
                <a:moveTo>
                  <a:pt x="0" y="0"/>
                </a:moveTo>
                <a:lnTo>
                  <a:pt x="4114800" y="0"/>
                </a:lnTo>
                <a:lnTo>
                  <a:pt x="4114800"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0">
            <a:off x="16585767" y="7556067"/>
            <a:ext cx="3404467" cy="3404467"/>
          </a:xfrm>
          <a:custGeom>
            <a:avLst/>
            <a:gdLst/>
            <a:ahLst/>
            <a:cxnLst/>
            <a:rect r="r" b="b" t="t" l="l"/>
            <a:pathLst>
              <a:path h="3404467" w="3404467">
                <a:moveTo>
                  <a:pt x="0" y="0"/>
                </a:moveTo>
                <a:lnTo>
                  <a:pt x="3404466" y="0"/>
                </a:lnTo>
                <a:lnTo>
                  <a:pt x="3404466" y="3404466"/>
                </a:lnTo>
                <a:lnTo>
                  <a:pt x="0" y="340446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6" id="6"/>
          <p:cNvGrpSpPr/>
          <p:nvPr/>
        </p:nvGrpSpPr>
        <p:grpSpPr>
          <a:xfrm rot="0">
            <a:off x="12319137" y="9258300"/>
            <a:ext cx="3911463" cy="3911463"/>
            <a:chOff x="0" y="0"/>
            <a:chExt cx="812800" cy="812800"/>
          </a:xfrm>
        </p:grpSpPr>
        <p:sp>
          <p:nvSpPr>
            <p:cNvPr name="Freeform 7" id="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474646"/>
            </a:solidFill>
          </p:spPr>
        </p:sp>
        <p:sp>
          <p:nvSpPr>
            <p:cNvPr name="TextBox 8" id="8"/>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sp>
        <p:nvSpPr>
          <p:cNvPr name="Freeform 9" id="9"/>
          <p:cNvSpPr/>
          <p:nvPr/>
        </p:nvSpPr>
        <p:spPr>
          <a:xfrm flipH="false" flipV="false" rot="0">
            <a:off x="16998733" y="7969033"/>
            <a:ext cx="2578533" cy="2578533"/>
          </a:xfrm>
          <a:custGeom>
            <a:avLst/>
            <a:gdLst/>
            <a:ahLst/>
            <a:cxnLst/>
            <a:rect r="r" b="b" t="t" l="l"/>
            <a:pathLst>
              <a:path h="2578533" w="2578533">
                <a:moveTo>
                  <a:pt x="0" y="0"/>
                </a:moveTo>
                <a:lnTo>
                  <a:pt x="2578534" y="0"/>
                </a:lnTo>
                <a:lnTo>
                  <a:pt x="2578534" y="2578534"/>
                </a:lnTo>
                <a:lnTo>
                  <a:pt x="0" y="257853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0" id="10"/>
          <p:cNvSpPr/>
          <p:nvPr/>
        </p:nvSpPr>
        <p:spPr>
          <a:xfrm flipH="false" flipV="false" rot="0">
            <a:off x="-1289267" y="-490830"/>
            <a:ext cx="2578533" cy="2578533"/>
          </a:xfrm>
          <a:custGeom>
            <a:avLst/>
            <a:gdLst/>
            <a:ahLst/>
            <a:cxnLst/>
            <a:rect r="r" b="b" t="t" l="l"/>
            <a:pathLst>
              <a:path h="2578533" w="2578533">
                <a:moveTo>
                  <a:pt x="0" y="0"/>
                </a:moveTo>
                <a:lnTo>
                  <a:pt x="2578534" y="0"/>
                </a:lnTo>
                <a:lnTo>
                  <a:pt x="2578534" y="2578534"/>
                </a:lnTo>
                <a:lnTo>
                  <a:pt x="0" y="257853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11" id="11"/>
          <p:cNvGrpSpPr/>
          <p:nvPr/>
        </p:nvGrpSpPr>
        <p:grpSpPr>
          <a:xfrm rot="0">
            <a:off x="2129385" y="-2859528"/>
            <a:ext cx="3911463" cy="3911463"/>
            <a:chOff x="0" y="0"/>
            <a:chExt cx="812800" cy="812800"/>
          </a:xfrm>
        </p:grpSpPr>
        <p:sp>
          <p:nvSpPr>
            <p:cNvPr name="Freeform 12" id="12"/>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474646"/>
            </a:solidFill>
          </p:spPr>
        </p:sp>
        <p:sp>
          <p:nvSpPr>
            <p:cNvPr name="TextBox 13" id="13"/>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sp>
        <p:nvSpPr>
          <p:cNvPr name="TextBox 14" id="14"/>
          <p:cNvSpPr txBox="true"/>
          <p:nvPr/>
        </p:nvSpPr>
        <p:spPr>
          <a:xfrm rot="0">
            <a:off x="1289267" y="2603925"/>
            <a:ext cx="4825720" cy="771525"/>
          </a:xfrm>
          <a:prstGeom prst="rect">
            <a:avLst/>
          </a:prstGeom>
        </p:spPr>
        <p:txBody>
          <a:bodyPr anchor="t" rtlCol="false" tIns="0" lIns="0" bIns="0" rIns="0">
            <a:spAutoFit/>
          </a:bodyPr>
          <a:lstStyle/>
          <a:p>
            <a:pPr algn="ctr">
              <a:lnSpc>
                <a:spcPts val="6300"/>
              </a:lnSpc>
            </a:pPr>
            <a:r>
              <a:rPr lang="en-US" b="true" sz="4500" i="true">
                <a:solidFill>
                  <a:srgbClr val="000000"/>
                </a:solidFill>
                <a:latin typeface="Canva Sans Bold Italics"/>
                <a:ea typeface="Canva Sans Bold Italics"/>
                <a:cs typeface="Canva Sans Bold Italics"/>
                <a:sym typeface="Canva Sans Bold Italics"/>
              </a:rPr>
              <a:t>Random Forest</a:t>
            </a:r>
          </a:p>
        </p:txBody>
      </p:sp>
      <p:sp>
        <p:nvSpPr>
          <p:cNvPr name="TextBox 15" id="15"/>
          <p:cNvSpPr txBox="true"/>
          <p:nvPr/>
        </p:nvSpPr>
        <p:spPr>
          <a:xfrm rot="0">
            <a:off x="1644433" y="4165659"/>
            <a:ext cx="14941333" cy="3351452"/>
          </a:xfrm>
          <a:prstGeom prst="rect">
            <a:avLst/>
          </a:prstGeom>
        </p:spPr>
        <p:txBody>
          <a:bodyPr anchor="t" rtlCol="false" tIns="0" lIns="0" bIns="0" rIns="0">
            <a:spAutoFit/>
          </a:bodyPr>
          <a:lstStyle/>
          <a:p>
            <a:pPr algn="l">
              <a:lnSpc>
                <a:spcPts val="5350"/>
              </a:lnSpc>
            </a:pPr>
            <a:r>
              <a:rPr lang="en-US" sz="3821" b="true">
                <a:solidFill>
                  <a:srgbClr val="000000"/>
                </a:solidFill>
                <a:latin typeface="Canva Sans Bold"/>
                <a:ea typeface="Canva Sans Bold"/>
                <a:cs typeface="Canva Sans Bold"/>
                <a:sym typeface="Canva Sans Bold"/>
              </a:rPr>
              <a:t>Random forest is a supervised learning algorithm. The “forest” it builds is</a:t>
            </a:r>
            <a:r>
              <a:rPr lang="en-US" b="true" sz="3821">
                <a:solidFill>
                  <a:srgbClr val="000000"/>
                </a:solidFill>
                <a:latin typeface="Canva Sans Bold"/>
                <a:ea typeface="Canva Sans Bold"/>
                <a:cs typeface="Canva Sans Bold"/>
                <a:sym typeface="Canva Sans Bold"/>
              </a:rPr>
              <a:t> an ensemble of decision trees, usually trained with the Bagging method. The general idea of the bagging method is that a combination of learning models increases the overall result.</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A6A6A6">
                <a:alpha val="100000"/>
              </a:srgbClr>
            </a:gs>
            <a:gs pos="100000">
              <a:srgbClr val="FFFFFF">
                <a:alpha val="100000"/>
              </a:srgbClr>
            </a:gs>
          </a:gsLst>
          <a:lin ang="0"/>
        </a:gradFill>
      </p:bgPr>
    </p:bg>
    <p:spTree>
      <p:nvGrpSpPr>
        <p:cNvPr id="1" name=""/>
        <p:cNvGrpSpPr/>
        <p:nvPr/>
      </p:nvGrpSpPr>
      <p:grpSpPr>
        <a:xfrm>
          <a:off x="0" y="0"/>
          <a:ext cx="0" cy="0"/>
          <a:chOff x="0" y="0"/>
          <a:chExt cx="0" cy="0"/>
        </a:xfrm>
      </p:grpSpPr>
      <p:sp>
        <p:nvSpPr>
          <p:cNvPr name="Freeform 2" id="2"/>
          <p:cNvSpPr/>
          <p:nvPr/>
        </p:nvSpPr>
        <p:spPr>
          <a:xfrm flipH="false" flipV="false" rot="0">
            <a:off x="-2057400" y="-1258963"/>
            <a:ext cx="4114800" cy="4114800"/>
          </a:xfrm>
          <a:custGeom>
            <a:avLst/>
            <a:gdLst/>
            <a:ahLst/>
            <a:cxnLst/>
            <a:rect r="r" b="b" t="t" l="l"/>
            <a:pathLst>
              <a:path h="4114800" w="4114800">
                <a:moveTo>
                  <a:pt x="0" y="0"/>
                </a:moveTo>
                <a:lnTo>
                  <a:pt x="4114800" y="0"/>
                </a:lnTo>
                <a:lnTo>
                  <a:pt x="4114800"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702233" y="-903796"/>
            <a:ext cx="3404467" cy="3404467"/>
          </a:xfrm>
          <a:custGeom>
            <a:avLst/>
            <a:gdLst/>
            <a:ahLst/>
            <a:cxnLst/>
            <a:rect r="r" b="b" t="t" l="l"/>
            <a:pathLst>
              <a:path h="3404467" w="3404467">
                <a:moveTo>
                  <a:pt x="0" y="0"/>
                </a:moveTo>
                <a:lnTo>
                  <a:pt x="3404466" y="0"/>
                </a:lnTo>
                <a:lnTo>
                  <a:pt x="3404466" y="3404466"/>
                </a:lnTo>
                <a:lnTo>
                  <a:pt x="0" y="340446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16230600" y="7200900"/>
            <a:ext cx="4114800" cy="4114800"/>
          </a:xfrm>
          <a:custGeom>
            <a:avLst/>
            <a:gdLst/>
            <a:ahLst/>
            <a:cxnLst/>
            <a:rect r="r" b="b" t="t" l="l"/>
            <a:pathLst>
              <a:path h="4114800" w="4114800">
                <a:moveTo>
                  <a:pt x="0" y="0"/>
                </a:moveTo>
                <a:lnTo>
                  <a:pt x="4114800" y="0"/>
                </a:lnTo>
                <a:lnTo>
                  <a:pt x="4114800"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0">
            <a:off x="16585767" y="7556067"/>
            <a:ext cx="3404467" cy="3404467"/>
          </a:xfrm>
          <a:custGeom>
            <a:avLst/>
            <a:gdLst/>
            <a:ahLst/>
            <a:cxnLst/>
            <a:rect r="r" b="b" t="t" l="l"/>
            <a:pathLst>
              <a:path h="3404467" w="3404467">
                <a:moveTo>
                  <a:pt x="0" y="0"/>
                </a:moveTo>
                <a:lnTo>
                  <a:pt x="3404466" y="0"/>
                </a:lnTo>
                <a:lnTo>
                  <a:pt x="3404466" y="3404466"/>
                </a:lnTo>
                <a:lnTo>
                  <a:pt x="0" y="340446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6" id="6"/>
          <p:cNvGrpSpPr/>
          <p:nvPr/>
        </p:nvGrpSpPr>
        <p:grpSpPr>
          <a:xfrm rot="0">
            <a:off x="12319137" y="9258300"/>
            <a:ext cx="3911463" cy="3911463"/>
            <a:chOff x="0" y="0"/>
            <a:chExt cx="812800" cy="812800"/>
          </a:xfrm>
        </p:grpSpPr>
        <p:sp>
          <p:nvSpPr>
            <p:cNvPr name="Freeform 7" id="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474646"/>
            </a:solidFill>
          </p:spPr>
        </p:sp>
        <p:sp>
          <p:nvSpPr>
            <p:cNvPr name="TextBox 8" id="8"/>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sp>
        <p:nvSpPr>
          <p:cNvPr name="Freeform 9" id="9"/>
          <p:cNvSpPr/>
          <p:nvPr/>
        </p:nvSpPr>
        <p:spPr>
          <a:xfrm flipH="false" flipV="false" rot="0">
            <a:off x="16998733" y="7969033"/>
            <a:ext cx="2578533" cy="2578533"/>
          </a:xfrm>
          <a:custGeom>
            <a:avLst/>
            <a:gdLst/>
            <a:ahLst/>
            <a:cxnLst/>
            <a:rect r="r" b="b" t="t" l="l"/>
            <a:pathLst>
              <a:path h="2578533" w="2578533">
                <a:moveTo>
                  <a:pt x="0" y="0"/>
                </a:moveTo>
                <a:lnTo>
                  <a:pt x="2578534" y="0"/>
                </a:lnTo>
                <a:lnTo>
                  <a:pt x="2578534" y="2578534"/>
                </a:lnTo>
                <a:lnTo>
                  <a:pt x="0" y="257853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0" id="10"/>
          <p:cNvSpPr/>
          <p:nvPr/>
        </p:nvSpPr>
        <p:spPr>
          <a:xfrm flipH="false" flipV="false" rot="0">
            <a:off x="-1289267" y="-490830"/>
            <a:ext cx="2578533" cy="2578533"/>
          </a:xfrm>
          <a:custGeom>
            <a:avLst/>
            <a:gdLst/>
            <a:ahLst/>
            <a:cxnLst/>
            <a:rect r="r" b="b" t="t" l="l"/>
            <a:pathLst>
              <a:path h="2578533" w="2578533">
                <a:moveTo>
                  <a:pt x="0" y="0"/>
                </a:moveTo>
                <a:lnTo>
                  <a:pt x="2578534" y="0"/>
                </a:lnTo>
                <a:lnTo>
                  <a:pt x="2578534" y="2578534"/>
                </a:lnTo>
                <a:lnTo>
                  <a:pt x="0" y="257853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11" id="11"/>
          <p:cNvGrpSpPr/>
          <p:nvPr/>
        </p:nvGrpSpPr>
        <p:grpSpPr>
          <a:xfrm rot="0">
            <a:off x="2129385" y="-2859528"/>
            <a:ext cx="3911463" cy="3911463"/>
            <a:chOff x="0" y="0"/>
            <a:chExt cx="812800" cy="812800"/>
          </a:xfrm>
        </p:grpSpPr>
        <p:sp>
          <p:nvSpPr>
            <p:cNvPr name="Freeform 12" id="12"/>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474646"/>
            </a:solidFill>
          </p:spPr>
        </p:sp>
        <p:sp>
          <p:nvSpPr>
            <p:cNvPr name="TextBox 13" id="13"/>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sp>
        <p:nvSpPr>
          <p:cNvPr name="Freeform 14" id="14"/>
          <p:cNvSpPr/>
          <p:nvPr/>
        </p:nvSpPr>
        <p:spPr>
          <a:xfrm flipH="false" flipV="false" rot="0">
            <a:off x="3356829" y="74345"/>
            <a:ext cx="11574342" cy="10212655"/>
          </a:xfrm>
          <a:custGeom>
            <a:avLst/>
            <a:gdLst/>
            <a:ahLst/>
            <a:cxnLst/>
            <a:rect r="r" b="b" t="t" l="l"/>
            <a:pathLst>
              <a:path h="10212655" w="11574342">
                <a:moveTo>
                  <a:pt x="0" y="0"/>
                </a:moveTo>
                <a:lnTo>
                  <a:pt x="11574342" y="0"/>
                </a:lnTo>
                <a:lnTo>
                  <a:pt x="11574342" y="10212655"/>
                </a:lnTo>
                <a:lnTo>
                  <a:pt x="0" y="10212655"/>
                </a:lnTo>
                <a:lnTo>
                  <a:pt x="0" y="0"/>
                </a:lnTo>
                <a:close/>
              </a:path>
            </a:pathLst>
          </a:custGeom>
          <a:blipFill>
            <a:blip r:embed="rId4"/>
            <a:stretch>
              <a:fillRect l="0" t="0" r="0" b="0"/>
            </a:stretch>
          </a:blipFill>
        </p:spPr>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A6A6A6">
                <a:alpha val="100000"/>
              </a:srgbClr>
            </a:gs>
            <a:gs pos="100000">
              <a:srgbClr val="FFFFFF">
                <a:alpha val="100000"/>
              </a:srgbClr>
            </a:gs>
          </a:gsLst>
          <a:lin ang="0"/>
        </a:gradFill>
      </p:bgPr>
    </p:bg>
    <p:spTree>
      <p:nvGrpSpPr>
        <p:cNvPr id="1" name=""/>
        <p:cNvGrpSpPr/>
        <p:nvPr/>
      </p:nvGrpSpPr>
      <p:grpSpPr>
        <a:xfrm>
          <a:off x="0" y="0"/>
          <a:ext cx="0" cy="0"/>
          <a:chOff x="0" y="0"/>
          <a:chExt cx="0" cy="0"/>
        </a:xfrm>
      </p:grpSpPr>
      <p:sp>
        <p:nvSpPr>
          <p:cNvPr name="Freeform 2" id="2"/>
          <p:cNvSpPr/>
          <p:nvPr/>
        </p:nvSpPr>
        <p:spPr>
          <a:xfrm flipH="false" flipV="false" rot="0">
            <a:off x="-2057400" y="-1258963"/>
            <a:ext cx="4114800" cy="4114800"/>
          </a:xfrm>
          <a:custGeom>
            <a:avLst/>
            <a:gdLst/>
            <a:ahLst/>
            <a:cxnLst/>
            <a:rect r="r" b="b" t="t" l="l"/>
            <a:pathLst>
              <a:path h="4114800" w="4114800">
                <a:moveTo>
                  <a:pt x="0" y="0"/>
                </a:moveTo>
                <a:lnTo>
                  <a:pt x="4114800" y="0"/>
                </a:lnTo>
                <a:lnTo>
                  <a:pt x="4114800"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702233" y="-903796"/>
            <a:ext cx="3404467" cy="3404467"/>
          </a:xfrm>
          <a:custGeom>
            <a:avLst/>
            <a:gdLst/>
            <a:ahLst/>
            <a:cxnLst/>
            <a:rect r="r" b="b" t="t" l="l"/>
            <a:pathLst>
              <a:path h="3404467" w="3404467">
                <a:moveTo>
                  <a:pt x="0" y="0"/>
                </a:moveTo>
                <a:lnTo>
                  <a:pt x="3404466" y="0"/>
                </a:lnTo>
                <a:lnTo>
                  <a:pt x="3404466" y="3404466"/>
                </a:lnTo>
                <a:lnTo>
                  <a:pt x="0" y="340446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16230600" y="7200900"/>
            <a:ext cx="4114800" cy="4114800"/>
          </a:xfrm>
          <a:custGeom>
            <a:avLst/>
            <a:gdLst/>
            <a:ahLst/>
            <a:cxnLst/>
            <a:rect r="r" b="b" t="t" l="l"/>
            <a:pathLst>
              <a:path h="4114800" w="4114800">
                <a:moveTo>
                  <a:pt x="0" y="0"/>
                </a:moveTo>
                <a:lnTo>
                  <a:pt x="4114800" y="0"/>
                </a:lnTo>
                <a:lnTo>
                  <a:pt x="4114800"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0">
            <a:off x="16585767" y="7556067"/>
            <a:ext cx="3404467" cy="3404467"/>
          </a:xfrm>
          <a:custGeom>
            <a:avLst/>
            <a:gdLst/>
            <a:ahLst/>
            <a:cxnLst/>
            <a:rect r="r" b="b" t="t" l="l"/>
            <a:pathLst>
              <a:path h="3404467" w="3404467">
                <a:moveTo>
                  <a:pt x="0" y="0"/>
                </a:moveTo>
                <a:lnTo>
                  <a:pt x="3404466" y="0"/>
                </a:lnTo>
                <a:lnTo>
                  <a:pt x="3404466" y="3404466"/>
                </a:lnTo>
                <a:lnTo>
                  <a:pt x="0" y="340446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6" id="6"/>
          <p:cNvGrpSpPr/>
          <p:nvPr/>
        </p:nvGrpSpPr>
        <p:grpSpPr>
          <a:xfrm rot="0">
            <a:off x="12319137" y="9258300"/>
            <a:ext cx="3911463" cy="3911463"/>
            <a:chOff x="0" y="0"/>
            <a:chExt cx="812800" cy="812800"/>
          </a:xfrm>
        </p:grpSpPr>
        <p:sp>
          <p:nvSpPr>
            <p:cNvPr name="Freeform 7" id="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474646"/>
            </a:solidFill>
          </p:spPr>
        </p:sp>
        <p:sp>
          <p:nvSpPr>
            <p:cNvPr name="TextBox 8" id="8"/>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sp>
        <p:nvSpPr>
          <p:cNvPr name="Freeform 9" id="9"/>
          <p:cNvSpPr/>
          <p:nvPr/>
        </p:nvSpPr>
        <p:spPr>
          <a:xfrm flipH="false" flipV="false" rot="0">
            <a:off x="16998733" y="7969033"/>
            <a:ext cx="2578533" cy="2578533"/>
          </a:xfrm>
          <a:custGeom>
            <a:avLst/>
            <a:gdLst/>
            <a:ahLst/>
            <a:cxnLst/>
            <a:rect r="r" b="b" t="t" l="l"/>
            <a:pathLst>
              <a:path h="2578533" w="2578533">
                <a:moveTo>
                  <a:pt x="0" y="0"/>
                </a:moveTo>
                <a:lnTo>
                  <a:pt x="2578534" y="0"/>
                </a:lnTo>
                <a:lnTo>
                  <a:pt x="2578534" y="2578534"/>
                </a:lnTo>
                <a:lnTo>
                  <a:pt x="0" y="257853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0" id="10"/>
          <p:cNvSpPr/>
          <p:nvPr/>
        </p:nvSpPr>
        <p:spPr>
          <a:xfrm flipH="false" flipV="false" rot="0">
            <a:off x="-1289267" y="-490830"/>
            <a:ext cx="2578533" cy="2578533"/>
          </a:xfrm>
          <a:custGeom>
            <a:avLst/>
            <a:gdLst/>
            <a:ahLst/>
            <a:cxnLst/>
            <a:rect r="r" b="b" t="t" l="l"/>
            <a:pathLst>
              <a:path h="2578533" w="2578533">
                <a:moveTo>
                  <a:pt x="0" y="0"/>
                </a:moveTo>
                <a:lnTo>
                  <a:pt x="2578534" y="0"/>
                </a:lnTo>
                <a:lnTo>
                  <a:pt x="2578534" y="2578534"/>
                </a:lnTo>
                <a:lnTo>
                  <a:pt x="0" y="257853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11" id="11"/>
          <p:cNvGrpSpPr/>
          <p:nvPr/>
        </p:nvGrpSpPr>
        <p:grpSpPr>
          <a:xfrm rot="0">
            <a:off x="2129385" y="-2859528"/>
            <a:ext cx="3911463" cy="3911463"/>
            <a:chOff x="0" y="0"/>
            <a:chExt cx="812800" cy="812800"/>
          </a:xfrm>
        </p:grpSpPr>
        <p:sp>
          <p:nvSpPr>
            <p:cNvPr name="Freeform 12" id="12"/>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474646"/>
            </a:solidFill>
          </p:spPr>
        </p:sp>
        <p:sp>
          <p:nvSpPr>
            <p:cNvPr name="TextBox 13" id="13"/>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sp>
        <p:nvSpPr>
          <p:cNvPr name="TextBox 14" id="14"/>
          <p:cNvSpPr txBox="true"/>
          <p:nvPr/>
        </p:nvSpPr>
        <p:spPr>
          <a:xfrm rot="0">
            <a:off x="3876676" y="712712"/>
            <a:ext cx="10534647" cy="830460"/>
          </a:xfrm>
          <a:prstGeom prst="rect">
            <a:avLst/>
          </a:prstGeom>
        </p:spPr>
        <p:txBody>
          <a:bodyPr anchor="t" rtlCol="false" tIns="0" lIns="0" bIns="0" rIns="0">
            <a:spAutoFit/>
          </a:bodyPr>
          <a:lstStyle/>
          <a:p>
            <a:pPr algn="ctr">
              <a:lnSpc>
                <a:spcPts val="6841"/>
              </a:lnSpc>
            </a:pPr>
            <a:r>
              <a:rPr lang="en-US" b="true" sz="4886" i="true">
                <a:solidFill>
                  <a:srgbClr val="000000"/>
                </a:solidFill>
                <a:latin typeface="Canva Sans Bold Italics"/>
                <a:ea typeface="Canva Sans Bold Italics"/>
                <a:cs typeface="Canva Sans Bold Italics"/>
                <a:sym typeface="Canva Sans Bold Italics"/>
              </a:rPr>
              <a:t>Time-Series MIning</a:t>
            </a:r>
          </a:p>
        </p:txBody>
      </p:sp>
      <p:sp>
        <p:nvSpPr>
          <p:cNvPr name="TextBox 15" id="15"/>
          <p:cNvSpPr txBox="true"/>
          <p:nvPr/>
        </p:nvSpPr>
        <p:spPr>
          <a:xfrm rot="0">
            <a:off x="1289267" y="2346462"/>
            <a:ext cx="15790741" cy="6911838"/>
          </a:xfrm>
          <a:prstGeom prst="rect">
            <a:avLst/>
          </a:prstGeom>
        </p:spPr>
        <p:txBody>
          <a:bodyPr anchor="t" rtlCol="false" tIns="0" lIns="0" bIns="0" rIns="0">
            <a:spAutoFit/>
          </a:bodyPr>
          <a:lstStyle/>
          <a:p>
            <a:pPr algn="l">
              <a:lnSpc>
                <a:spcPts val="5519"/>
              </a:lnSpc>
            </a:pPr>
            <a:r>
              <a:rPr lang="en-US" sz="3942" b="true">
                <a:solidFill>
                  <a:srgbClr val="000000"/>
                </a:solidFill>
                <a:latin typeface="Canva Sans Bold"/>
                <a:ea typeface="Canva Sans Bold"/>
                <a:cs typeface="Canva Sans Bold"/>
                <a:sym typeface="Canva Sans Bold"/>
              </a:rPr>
              <a:t>It is the process of analyzing data collected over time (daily, weekly, monthly, yearly) to find patterns, trends, or predictions.</a:t>
            </a:r>
          </a:p>
          <a:p>
            <a:pPr algn="l">
              <a:lnSpc>
                <a:spcPts val="5519"/>
              </a:lnSpc>
            </a:pPr>
            <a:r>
              <a:rPr lang="en-US" sz="3942" b="true">
                <a:solidFill>
                  <a:srgbClr val="000000"/>
                </a:solidFill>
                <a:latin typeface="Canva Sans Bold"/>
                <a:ea typeface="Canva Sans Bold"/>
                <a:cs typeface="Canva Sans Bold"/>
                <a:sym typeface="Canva Sans Bold"/>
              </a:rPr>
              <a:t>The order of data is important because past values affect future values. </a:t>
            </a:r>
          </a:p>
          <a:p>
            <a:pPr algn="l">
              <a:lnSpc>
                <a:spcPts val="5519"/>
              </a:lnSpc>
            </a:pPr>
          </a:p>
          <a:p>
            <a:pPr algn="l">
              <a:lnSpc>
                <a:spcPts val="5519"/>
              </a:lnSpc>
            </a:pPr>
            <a:r>
              <a:rPr lang="en-US" sz="3942" b="true">
                <a:solidFill>
                  <a:srgbClr val="000000"/>
                </a:solidFill>
                <a:latin typeface="Canva Sans Bold"/>
                <a:ea typeface="Canva Sans Bold"/>
                <a:cs typeface="Canva Sans Bold"/>
                <a:sym typeface="Canva Sans Bold"/>
              </a:rPr>
              <a:t>Examples:</a:t>
            </a:r>
          </a:p>
          <a:p>
            <a:pPr algn="l" marL="851178" indent="-425589" lvl="1">
              <a:lnSpc>
                <a:spcPts val="5519"/>
              </a:lnSpc>
              <a:buFont typeface="Arial"/>
              <a:buChar char="•"/>
            </a:pPr>
            <a:r>
              <a:rPr lang="en-US" b="true" sz="3942">
                <a:solidFill>
                  <a:srgbClr val="000000"/>
                </a:solidFill>
                <a:latin typeface="Canva Sans Bold"/>
                <a:ea typeface="Canva Sans Bold"/>
                <a:cs typeface="Canva Sans Bold"/>
                <a:sym typeface="Canva Sans Bold"/>
              </a:rPr>
              <a:t>Stock market prices each day</a:t>
            </a:r>
          </a:p>
          <a:p>
            <a:pPr algn="l" marL="851178" indent="-425589" lvl="1">
              <a:lnSpc>
                <a:spcPts val="5519"/>
              </a:lnSpc>
              <a:buFont typeface="Arial"/>
              <a:buChar char="•"/>
            </a:pPr>
            <a:r>
              <a:rPr lang="en-US" b="true" sz="3942">
                <a:solidFill>
                  <a:srgbClr val="000000"/>
                </a:solidFill>
                <a:latin typeface="Canva Sans Bold"/>
                <a:ea typeface="Canva Sans Bold"/>
                <a:cs typeface="Canva Sans Bold"/>
                <a:sym typeface="Canva Sans Bold"/>
              </a:rPr>
              <a:t>Daily temperature recordings</a:t>
            </a:r>
          </a:p>
          <a:p>
            <a:pPr algn="l" marL="851178" indent="-425589" lvl="1">
              <a:lnSpc>
                <a:spcPts val="5519"/>
              </a:lnSpc>
              <a:buFont typeface="Arial"/>
              <a:buChar char="•"/>
            </a:pPr>
            <a:r>
              <a:rPr lang="en-US" b="true" sz="3942">
                <a:solidFill>
                  <a:srgbClr val="000000"/>
                </a:solidFill>
                <a:latin typeface="Canva Sans Bold"/>
                <a:ea typeface="Canva Sans Bold"/>
                <a:cs typeface="Canva Sans Bold"/>
                <a:sym typeface="Canva Sans Bold"/>
              </a:rPr>
              <a:t>Monthly sales revenue</a:t>
            </a:r>
          </a:p>
          <a:p>
            <a:pPr algn="l">
              <a:lnSpc>
                <a:spcPts val="5519"/>
              </a:lnSpc>
            </a:pPr>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A6A6A6">
                <a:alpha val="100000"/>
              </a:srgbClr>
            </a:gs>
            <a:gs pos="100000">
              <a:srgbClr val="FFFFFF">
                <a:alpha val="100000"/>
              </a:srgbClr>
            </a:gs>
          </a:gsLst>
          <a:lin ang="0"/>
        </a:gradFill>
      </p:bgPr>
    </p:bg>
    <p:spTree>
      <p:nvGrpSpPr>
        <p:cNvPr id="1" name=""/>
        <p:cNvGrpSpPr/>
        <p:nvPr/>
      </p:nvGrpSpPr>
      <p:grpSpPr>
        <a:xfrm>
          <a:off x="0" y="0"/>
          <a:ext cx="0" cy="0"/>
          <a:chOff x="0" y="0"/>
          <a:chExt cx="0" cy="0"/>
        </a:xfrm>
      </p:grpSpPr>
      <p:sp>
        <p:nvSpPr>
          <p:cNvPr name="Freeform 2" id="2"/>
          <p:cNvSpPr/>
          <p:nvPr/>
        </p:nvSpPr>
        <p:spPr>
          <a:xfrm flipH="false" flipV="false" rot="0">
            <a:off x="-2057400" y="-1258963"/>
            <a:ext cx="4114800" cy="4114800"/>
          </a:xfrm>
          <a:custGeom>
            <a:avLst/>
            <a:gdLst/>
            <a:ahLst/>
            <a:cxnLst/>
            <a:rect r="r" b="b" t="t" l="l"/>
            <a:pathLst>
              <a:path h="4114800" w="4114800">
                <a:moveTo>
                  <a:pt x="0" y="0"/>
                </a:moveTo>
                <a:lnTo>
                  <a:pt x="4114800" y="0"/>
                </a:lnTo>
                <a:lnTo>
                  <a:pt x="4114800"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702233" y="-903796"/>
            <a:ext cx="3404467" cy="3404467"/>
          </a:xfrm>
          <a:custGeom>
            <a:avLst/>
            <a:gdLst/>
            <a:ahLst/>
            <a:cxnLst/>
            <a:rect r="r" b="b" t="t" l="l"/>
            <a:pathLst>
              <a:path h="3404467" w="3404467">
                <a:moveTo>
                  <a:pt x="0" y="0"/>
                </a:moveTo>
                <a:lnTo>
                  <a:pt x="3404466" y="0"/>
                </a:lnTo>
                <a:lnTo>
                  <a:pt x="3404466" y="3404466"/>
                </a:lnTo>
                <a:lnTo>
                  <a:pt x="0" y="340446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16230600" y="7200900"/>
            <a:ext cx="4114800" cy="4114800"/>
          </a:xfrm>
          <a:custGeom>
            <a:avLst/>
            <a:gdLst/>
            <a:ahLst/>
            <a:cxnLst/>
            <a:rect r="r" b="b" t="t" l="l"/>
            <a:pathLst>
              <a:path h="4114800" w="4114800">
                <a:moveTo>
                  <a:pt x="0" y="0"/>
                </a:moveTo>
                <a:lnTo>
                  <a:pt x="4114800" y="0"/>
                </a:lnTo>
                <a:lnTo>
                  <a:pt x="4114800"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0">
            <a:off x="16585767" y="7556067"/>
            <a:ext cx="3404467" cy="3404467"/>
          </a:xfrm>
          <a:custGeom>
            <a:avLst/>
            <a:gdLst/>
            <a:ahLst/>
            <a:cxnLst/>
            <a:rect r="r" b="b" t="t" l="l"/>
            <a:pathLst>
              <a:path h="3404467" w="3404467">
                <a:moveTo>
                  <a:pt x="0" y="0"/>
                </a:moveTo>
                <a:lnTo>
                  <a:pt x="3404466" y="0"/>
                </a:lnTo>
                <a:lnTo>
                  <a:pt x="3404466" y="3404466"/>
                </a:lnTo>
                <a:lnTo>
                  <a:pt x="0" y="340446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6" id="6"/>
          <p:cNvGrpSpPr/>
          <p:nvPr/>
        </p:nvGrpSpPr>
        <p:grpSpPr>
          <a:xfrm rot="0">
            <a:off x="12319137" y="9258300"/>
            <a:ext cx="3911463" cy="3911463"/>
            <a:chOff x="0" y="0"/>
            <a:chExt cx="812800" cy="812800"/>
          </a:xfrm>
        </p:grpSpPr>
        <p:sp>
          <p:nvSpPr>
            <p:cNvPr name="Freeform 7" id="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474646"/>
            </a:solidFill>
          </p:spPr>
        </p:sp>
        <p:sp>
          <p:nvSpPr>
            <p:cNvPr name="TextBox 8" id="8"/>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sp>
        <p:nvSpPr>
          <p:cNvPr name="Freeform 9" id="9"/>
          <p:cNvSpPr/>
          <p:nvPr/>
        </p:nvSpPr>
        <p:spPr>
          <a:xfrm flipH="false" flipV="false" rot="0">
            <a:off x="16998733" y="7969033"/>
            <a:ext cx="2578533" cy="2578533"/>
          </a:xfrm>
          <a:custGeom>
            <a:avLst/>
            <a:gdLst/>
            <a:ahLst/>
            <a:cxnLst/>
            <a:rect r="r" b="b" t="t" l="l"/>
            <a:pathLst>
              <a:path h="2578533" w="2578533">
                <a:moveTo>
                  <a:pt x="0" y="0"/>
                </a:moveTo>
                <a:lnTo>
                  <a:pt x="2578534" y="0"/>
                </a:lnTo>
                <a:lnTo>
                  <a:pt x="2578534" y="2578534"/>
                </a:lnTo>
                <a:lnTo>
                  <a:pt x="0" y="257853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0" id="10"/>
          <p:cNvSpPr/>
          <p:nvPr/>
        </p:nvSpPr>
        <p:spPr>
          <a:xfrm flipH="false" flipV="false" rot="0">
            <a:off x="-1289267" y="-490830"/>
            <a:ext cx="2578533" cy="2578533"/>
          </a:xfrm>
          <a:custGeom>
            <a:avLst/>
            <a:gdLst/>
            <a:ahLst/>
            <a:cxnLst/>
            <a:rect r="r" b="b" t="t" l="l"/>
            <a:pathLst>
              <a:path h="2578533" w="2578533">
                <a:moveTo>
                  <a:pt x="0" y="0"/>
                </a:moveTo>
                <a:lnTo>
                  <a:pt x="2578534" y="0"/>
                </a:lnTo>
                <a:lnTo>
                  <a:pt x="2578534" y="2578534"/>
                </a:lnTo>
                <a:lnTo>
                  <a:pt x="0" y="257853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11" id="11"/>
          <p:cNvGrpSpPr/>
          <p:nvPr/>
        </p:nvGrpSpPr>
        <p:grpSpPr>
          <a:xfrm rot="0">
            <a:off x="2129385" y="-2859528"/>
            <a:ext cx="3911463" cy="3911463"/>
            <a:chOff x="0" y="0"/>
            <a:chExt cx="812800" cy="812800"/>
          </a:xfrm>
        </p:grpSpPr>
        <p:sp>
          <p:nvSpPr>
            <p:cNvPr name="Freeform 12" id="12"/>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474646"/>
            </a:solidFill>
          </p:spPr>
        </p:sp>
        <p:sp>
          <p:nvSpPr>
            <p:cNvPr name="TextBox 13" id="13"/>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sp>
        <p:nvSpPr>
          <p:cNvPr name="TextBox 14" id="14"/>
          <p:cNvSpPr txBox="true"/>
          <p:nvPr/>
        </p:nvSpPr>
        <p:spPr>
          <a:xfrm rot="0">
            <a:off x="3876676" y="340345"/>
            <a:ext cx="10534647" cy="830460"/>
          </a:xfrm>
          <a:prstGeom prst="rect">
            <a:avLst/>
          </a:prstGeom>
        </p:spPr>
        <p:txBody>
          <a:bodyPr anchor="t" rtlCol="false" tIns="0" lIns="0" bIns="0" rIns="0">
            <a:spAutoFit/>
          </a:bodyPr>
          <a:lstStyle/>
          <a:p>
            <a:pPr algn="ctr">
              <a:lnSpc>
                <a:spcPts val="6841"/>
              </a:lnSpc>
            </a:pPr>
            <a:r>
              <a:rPr lang="en-US" b="true" sz="4886" i="true">
                <a:solidFill>
                  <a:srgbClr val="000000"/>
                </a:solidFill>
                <a:latin typeface="Canva Sans Bold Italics"/>
                <a:ea typeface="Canva Sans Bold Italics"/>
                <a:cs typeface="Canva Sans Bold Italics"/>
                <a:sym typeface="Canva Sans Bold Italics"/>
              </a:rPr>
              <a:t>Sequential Pattern Mining</a:t>
            </a:r>
          </a:p>
        </p:txBody>
      </p:sp>
      <p:sp>
        <p:nvSpPr>
          <p:cNvPr name="TextBox 15" id="15"/>
          <p:cNvSpPr txBox="true"/>
          <p:nvPr/>
        </p:nvSpPr>
        <p:spPr>
          <a:xfrm rot="0">
            <a:off x="1289267" y="1643217"/>
            <a:ext cx="15296500" cy="8041625"/>
          </a:xfrm>
          <a:prstGeom prst="rect">
            <a:avLst/>
          </a:prstGeom>
        </p:spPr>
        <p:txBody>
          <a:bodyPr anchor="t" rtlCol="false" tIns="0" lIns="0" bIns="0" rIns="0">
            <a:spAutoFit/>
          </a:bodyPr>
          <a:lstStyle/>
          <a:p>
            <a:pPr algn="l">
              <a:lnSpc>
                <a:spcPts val="5346"/>
              </a:lnSpc>
            </a:pPr>
            <a:r>
              <a:rPr lang="en-US" sz="3819" b="true">
                <a:solidFill>
                  <a:srgbClr val="000000"/>
                </a:solidFill>
                <a:latin typeface="Canva Sans Bold"/>
                <a:ea typeface="Canva Sans Bold"/>
                <a:cs typeface="Canva Sans Bold"/>
                <a:sym typeface="Canva Sans Bold"/>
              </a:rPr>
              <a:t>A data mining technique used to discover frequent sequences of events or it</a:t>
            </a:r>
            <a:r>
              <a:rPr lang="en-US" sz="3819" b="true">
                <a:solidFill>
                  <a:srgbClr val="000000"/>
                </a:solidFill>
                <a:latin typeface="Canva Sans Bold"/>
                <a:ea typeface="Canva Sans Bold"/>
                <a:cs typeface="Canva Sans Bold"/>
                <a:sym typeface="Canva Sans Bold"/>
              </a:rPr>
              <a:t>ems in a dataset. It finds patterns in the order of events, not necessarily tied to fixed time intervals.</a:t>
            </a:r>
          </a:p>
          <a:p>
            <a:pPr algn="l">
              <a:lnSpc>
                <a:spcPts val="5346"/>
              </a:lnSpc>
            </a:pPr>
          </a:p>
          <a:p>
            <a:pPr algn="l">
              <a:lnSpc>
                <a:spcPts val="5346"/>
              </a:lnSpc>
            </a:pPr>
            <a:r>
              <a:rPr lang="en-US" sz="3819" b="true">
                <a:solidFill>
                  <a:srgbClr val="000000"/>
                </a:solidFill>
                <a:latin typeface="Canva Sans Bold"/>
                <a:ea typeface="Canva Sans Bold"/>
                <a:cs typeface="Canva Sans Bold"/>
                <a:sym typeface="Canva Sans Bold"/>
              </a:rPr>
              <a:t>Examples:</a:t>
            </a:r>
          </a:p>
          <a:p>
            <a:pPr algn="l" marL="824536" indent="-412268" lvl="1">
              <a:lnSpc>
                <a:spcPts val="5346"/>
              </a:lnSpc>
              <a:buFont typeface="Arial"/>
              <a:buChar char="•"/>
            </a:pPr>
            <a:r>
              <a:rPr lang="en-US" b="true" sz="3819">
                <a:solidFill>
                  <a:srgbClr val="000000"/>
                </a:solidFill>
                <a:latin typeface="Canva Sans Bold"/>
                <a:ea typeface="Canva Sans Bold"/>
                <a:cs typeface="Canva Sans Bold"/>
                <a:sym typeface="Canva Sans Bold"/>
              </a:rPr>
              <a:t>In a shopping district: customers often buy milk → bread → butter</a:t>
            </a:r>
          </a:p>
          <a:p>
            <a:pPr algn="l" marL="824536" indent="-412268" lvl="1">
              <a:lnSpc>
                <a:spcPts val="5346"/>
              </a:lnSpc>
              <a:buFont typeface="Arial"/>
              <a:buChar char="•"/>
            </a:pPr>
            <a:r>
              <a:rPr lang="en-US" b="true" sz="3819">
                <a:solidFill>
                  <a:srgbClr val="000000"/>
                </a:solidFill>
                <a:latin typeface="Canva Sans Bold"/>
                <a:ea typeface="Canva Sans Bold"/>
                <a:cs typeface="Canva Sans Bold"/>
                <a:sym typeface="Canva Sans Bold"/>
              </a:rPr>
              <a:t>In website logs: many users visit homepage → product page → checkout</a:t>
            </a:r>
          </a:p>
          <a:p>
            <a:pPr algn="l" marL="824536" indent="-412268" lvl="1">
              <a:lnSpc>
                <a:spcPts val="5346"/>
              </a:lnSpc>
              <a:buFont typeface="Arial"/>
              <a:buChar char="•"/>
            </a:pPr>
            <a:r>
              <a:rPr lang="en-US" b="true" sz="3819">
                <a:solidFill>
                  <a:srgbClr val="000000"/>
                </a:solidFill>
                <a:latin typeface="Canva Sans Bold"/>
                <a:ea typeface="Canva Sans Bold"/>
                <a:cs typeface="Canva Sans Bold"/>
                <a:sym typeface="Canva Sans Bold"/>
              </a:rPr>
              <a:t>In medical records: patients often experience symptom A → test B → diagnosis C</a:t>
            </a:r>
          </a:p>
          <a:p>
            <a:pPr algn="l">
              <a:lnSpc>
                <a:spcPts val="5346"/>
              </a:lnSpc>
            </a:pPr>
          </a:p>
        </p:txBody>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A6A6A6">
                <a:alpha val="100000"/>
              </a:srgbClr>
            </a:gs>
            <a:gs pos="100000">
              <a:srgbClr val="FFFFFF">
                <a:alpha val="100000"/>
              </a:srgbClr>
            </a:gs>
          </a:gsLst>
          <a:lin ang="0"/>
        </a:gradFill>
      </p:bgPr>
    </p:bg>
    <p:spTree>
      <p:nvGrpSpPr>
        <p:cNvPr id="1" name=""/>
        <p:cNvGrpSpPr/>
        <p:nvPr/>
      </p:nvGrpSpPr>
      <p:grpSpPr>
        <a:xfrm>
          <a:off x="0" y="0"/>
          <a:ext cx="0" cy="0"/>
          <a:chOff x="0" y="0"/>
          <a:chExt cx="0" cy="0"/>
        </a:xfrm>
      </p:grpSpPr>
      <p:sp>
        <p:nvSpPr>
          <p:cNvPr name="Freeform 2" id="2"/>
          <p:cNvSpPr/>
          <p:nvPr/>
        </p:nvSpPr>
        <p:spPr>
          <a:xfrm flipH="false" flipV="false" rot="0">
            <a:off x="-2057400" y="-1258963"/>
            <a:ext cx="4114800" cy="4114800"/>
          </a:xfrm>
          <a:custGeom>
            <a:avLst/>
            <a:gdLst/>
            <a:ahLst/>
            <a:cxnLst/>
            <a:rect r="r" b="b" t="t" l="l"/>
            <a:pathLst>
              <a:path h="4114800" w="4114800">
                <a:moveTo>
                  <a:pt x="0" y="0"/>
                </a:moveTo>
                <a:lnTo>
                  <a:pt x="4114800" y="0"/>
                </a:lnTo>
                <a:lnTo>
                  <a:pt x="4114800"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702233" y="-903796"/>
            <a:ext cx="3404467" cy="3404467"/>
          </a:xfrm>
          <a:custGeom>
            <a:avLst/>
            <a:gdLst/>
            <a:ahLst/>
            <a:cxnLst/>
            <a:rect r="r" b="b" t="t" l="l"/>
            <a:pathLst>
              <a:path h="3404467" w="3404467">
                <a:moveTo>
                  <a:pt x="0" y="0"/>
                </a:moveTo>
                <a:lnTo>
                  <a:pt x="3404466" y="0"/>
                </a:lnTo>
                <a:lnTo>
                  <a:pt x="3404466" y="3404466"/>
                </a:lnTo>
                <a:lnTo>
                  <a:pt x="0" y="340446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16230600" y="7200900"/>
            <a:ext cx="4114800" cy="4114800"/>
          </a:xfrm>
          <a:custGeom>
            <a:avLst/>
            <a:gdLst/>
            <a:ahLst/>
            <a:cxnLst/>
            <a:rect r="r" b="b" t="t" l="l"/>
            <a:pathLst>
              <a:path h="4114800" w="4114800">
                <a:moveTo>
                  <a:pt x="0" y="0"/>
                </a:moveTo>
                <a:lnTo>
                  <a:pt x="4114800" y="0"/>
                </a:lnTo>
                <a:lnTo>
                  <a:pt x="4114800"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0">
            <a:off x="16585767" y="7556067"/>
            <a:ext cx="3404467" cy="3404467"/>
          </a:xfrm>
          <a:custGeom>
            <a:avLst/>
            <a:gdLst/>
            <a:ahLst/>
            <a:cxnLst/>
            <a:rect r="r" b="b" t="t" l="l"/>
            <a:pathLst>
              <a:path h="3404467" w="3404467">
                <a:moveTo>
                  <a:pt x="0" y="0"/>
                </a:moveTo>
                <a:lnTo>
                  <a:pt x="3404466" y="0"/>
                </a:lnTo>
                <a:lnTo>
                  <a:pt x="3404466" y="3404466"/>
                </a:lnTo>
                <a:lnTo>
                  <a:pt x="0" y="340446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6" id="6"/>
          <p:cNvGrpSpPr/>
          <p:nvPr/>
        </p:nvGrpSpPr>
        <p:grpSpPr>
          <a:xfrm rot="0">
            <a:off x="12319137" y="9258300"/>
            <a:ext cx="3911463" cy="3911463"/>
            <a:chOff x="0" y="0"/>
            <a:chExt cx="812800" cy="812800"/>
          </a:xfrm>
        </p:grpSpPr>
        <p:sp>
          <p:nvSpPr>
            <p:cNvPr name="Freeform 7" id="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474646"/>
            </a:solidFill>
          </p:spPr>
        </p:sp>
        <p:sp>
          <p:nvSpPr>
            <p:cNvPr name="TextBox 8" id="8"/>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sp>
        <p:nvSpPr>
          <p:cNvPr name="Freeform 9" id="9"/>
          <p:cNvSpPr/>
          <p:nvPr/>
        </p:nvSpPr>
        <p:spPr>
          <a:xfrm flipH="false" flipV="false" rot="0">
            <a:off x="16998733" y="7969033"/>
            <a:ext cx="2578533" cy="2578533"/>
          </a:xfrm>
          <a:custGeom>
            <a:avLst/>
            <a:gdLst/>
            <a:ahLst/>
            <a:cxnLst/>
            <a:rect r="r" b="b" t="t" l="l"/>
            <a:pathLst>
              <a:path h="2578533" w="2578533">
                <a:moveTo>
                  <a:pt x="0" y="0"/>
                </a:moveTo>
                <a:lnTo>
                  <a:pt x="2578534" y="0"/>
                </a:lnTo>
                <a:lnTo>
                  <a:pt x="2578534" y="2578534"/>
                </a:lnTo>
                <a:lnTo>
                  <a:pt x="0" y="257853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0" id="10"/>
          <p:cNvSpPr/>
          <p:nvPr/>
        </p:nvSpPr>
        <p:spPr>
          <a:xfrm flipH="false" flipV="false" rot="0">
            <a:off x="-1289267" y="-490830"/>
            <a:ext cx="2578533" cy="2578533"/>
          </a:xfrm>
          <a:custGeom>
            <a:avLst/>
            <a:gdLst/>
            <a:ahLst/>
            <a:cxnLst/>
            <a:rect r="r" b="b" t="t" l="l"/>
            <a:pathLst>
              <a:path h="2578533" w="2578533">
                <a:moveTo>
                  <a:pt x="0" y="0"/>
                </a:moveTo>
                <a:lnTo>
                  <a:pt x="2578534" y="0"/>
                </a:lnTo>
                <a:lnTo>
                  <a:pt x="2578534" y="2578534"/>
                </a:lnTo>
                <a:lnTo>
                  <a:pt x="0" y="257853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11" id="11"/>
          <p:cNvGrpSpPr/>
          <p:nvPr/>
        </p:nvGrpSpPr>
        <p:grpSpPr>
          <a:xfrm rot="0">
            <a:off x="2129385" y="-2859528"/>
            <a:ext cx="3911463" cy="3911463"/>
            <a:chOff x="0" y="0"/>
            <a:chExt cx="812800" cy="812800"/>
          </a:xfrm>
        </p:grpSpPr>
        <p:sp>
          <p:nvSpPr>
            <p:cNvPr name="Freeform 12" id="12"/>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474646"/>
            </a:solidFill>
          </p:spPr>
        </p:sp>
        <p:sp>
          <p:nvSpPr>
            <p:cNvPr name="TextBox 13" id="13"/>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sp>
        <p:nvSpPr>
          <p:cNvPr name="Freeform 14" id="14"/>
          <p:cNvSpPr/>
          <p:nvPr/>
        </p:nvSpPr>
        <p:spPr>
          <a:xfrm flipH="false" flipV="false" rot="0">
            <a:off x="1289267" y="106851"/>
            <a:ext cx="15119397" cy="10073298"/>
          </a:xfrm>
          <a:custGeom>
            <a:avLst/>
            <a:gdLst/>
            <a:ahLst/>
            <a:cxnLst/>
            <a:rect r="r" b="b" t="t" l="l"/>
            <a:pathLst>
              <a:path h="10073298" w="15119397">
                <a:moveTo>
                  <a:pt x="0" y="0"/>
                </a:moveTo>
                <a:lnTo>
                  <a:pt x="15119397" y="0"/>
                </a:lnTo>
                <a:lnTo>
                  <a:pt x="15119397" y="10073298"/>
                </a:lnTo>
                <a:lnTo>
                  <a:pt x="0" y="10073298"/>
                </a:lnTo>
                <a:lnTo>
                  <a:pt x="0" y="0"/>
                </a:lnTo>
                <a:close/>
              </a:path>
            </a:pathLst>
          </a:custGeom>
          <a:blipFill>
            <a:blip r:embed="rId4"/>
            <a:stretch>
              <a:fillRect l="0" t="0" r="0" b="0"/>
            </a:stretch>
          </a:blipFill>
        </p:spPr>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A6A6A6">
                <a:alpha val="100000"/>
              </a:srgbClr>
            </a:gs>
            <a:gs pos="100000">
              <a:srgbClr val="FFFFFF">
                <a:alpha val="100000"/>
              </a:srgbClr>
            </a:gs>
          </a:gsLst>
          <a:lin ang="0"/>
        </a:gradFill>
      </p:bgPr>
    </p:bg>
    <p:spTree>
      <p:nvGrpSpPr>
        <p:cNvPr id="1" name=""/>
        <p:cNvGrpSpPr/>
        <p:nvPr/>
      </p:nvGrpSpPr>
      <p:grpSpPr>
        <a:xfrm>
          <a:off x="0" y="0"/>
          <a:ext cx="0" cy="0"/>
          <a:chOff x="0" y="0"/>
          <a:chExt cx="0" cy="0"/>
        </a:xfrm>
      </p:grpSpPr>
      <p:sp>
        <p:nvSpPr>
          <p:cNvPr name="Freeform 2" id="2"/>
          <p:cNvSpPr/>
          <p:nvPr/>
        </p:nvSpPr>
        <p:spPr>
          <a:xfrm flipH="false" flipV="false" rot="0">
            <a:off x="-2057400" y="-1258963"/>
            <a:ext cx="4114800" cy="4114800"/>
          </a:xfrm>
          <a:custGeom>
            <a:avLst/>
            <a:gdLst/>
            <a:ahLst/>
            <a:cxnLst/>
            <a:rect r="r" b="b" t="t" l="l"/>
            <a:pathLst>
              <a:path h="4114800" w="4114800">
                <a:moveTo>
                  <a:pt x="0" y="0"/>
                </a:moveTo>
                <a:lnTo>
                  <a:pt x="4114800" y="0"/>
                </a:lnTo>
                <a:lnTo>
                  <a:pt x="4114800"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702233" y="-903796"/>
            <a:ext cx="3404467" cy="3404467"/>
          </a:xfrm>
          <a:custGeom>
            <a:avLst/>
            <a:gdLst/>
            <a:ahLst/>
            <a:cxnLst/>
            <a:rect r="r" b="b" t="t" l="l"/>
            <a:pathLst>
              <a:path h="3404467" w="3404467">
                <a:moveTo>
                  <a:pt x="0" y="0"/>
                </a:moveTo>
                <a:lnTo>
                  <a:pt x="3404466" y="0"/>
                </a:lnTo>
                <a:lnTo>
                  <a:pt x="3404466" y="3404466"/>
                </a:lnTo>
                <a:lnTo>
                  <a:pt x="0" y="340446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16230600" y="7200900"/>
            <a:ext cx="4114800" cy="4114800"/>
          </a:xfrm>
          <a:custGeom>
            <a:avLst/>
            <a:gdLst/>
            <a:ahLst/>
            <a:cxnLst/>
            <a:rect r="r" b="b" t="t" l="l"/>
            <a:pathLst>
              <a:path h="4114800" w="4114800">
                <a:moveTo>
                  <a:pt x="0" y="0"/>
                </a:moveTo>
                <a:lnTo>
                  <a:pt x="4114800" y="0"/>
                </a:lnTo>
                <a:lnTo>
                  <a:pt x="4114800"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0">
            <a:off x="16585767" y="7556067"/>
            <a:ext cx="3404467" cy="3404467"/>
          </a:xfrm>
          <a:custGeom>
            <a:avLst/>
            <a:gdLst/>
            <a:ahLst/>
            <a:cxnLst/>
            <a:rect r="r" b="b" t="t" l="l"/>
            <a:pathLst>
              <a:path h="3404467" w="3404467">
                <a:moveTo>
                  <a:pt x="0" y="0"/>
                </a:moveTo>
                <a:lnTo>
                  <a:pt x="3404466" y="0"/>
                </a:lnTo>
                <a:lnTo>
                  <a:pt x="3404466" y="3404466"/>
                </a:lnTo>
                <a:lnTo>
                  <a:pt x="0" y="340446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6" id="6"/>
          <p:cNvGrpSpPr/>
          <p:nvPr/>
        </p:nvGrpSpPr>
        <p:grpSpPr>
          <a:xfrm rot="0">
            <a:off x="12319137" y="9258300"/>
            <a:ext cx="3911463" cy="3911463"/>
            <a:chOff x="0" y="0"/>
            <a:chExt cx="812800" cy="812800"/>
          </a:xfrm>
        </p:grpSpPr>
        <p:sp>
          <p:nvSpPr>
            <p:cNvPr name="Freeform 7" id="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474646"/>
            </a:solidFill>
          </p:spPr>
        </p:sp>
        <p:sp>
          <p:nvSpPr>
            <p:cNvPr name="TextBox 8" id="8"/>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sp>
        <p:nvSpPr>
          <p:cNvPr name="Freeform 9" id="9"/>
          <p:cNvSpPr/>
          <p:nvPr/>
        </p:nvSpPr>
        <p:spPr>
          <a:xfrm flipH="false" flipV="false" rot="0">
            <a:off x="16998733" y="7969033"/>
            <a:ext cx="2578533" cy="2578533"/>
          </a:xfrm>
          <a:custGeom>
            <a:avLst/>
            <a:gdLst/>
            <a:ahLst/>
            <a:cxnLst/>
            <a:rect r="r" b="b" t="t" l="l"/>
            <a:pathLst>
              <a:path h="2578533" w="2578533">
                <a:moveTo>
                  <a:pt x="0" y="0"/>
                </a:moveTo>
                <a:lnTo>
                  <a:pt x="2578534" y="0"/>
                </a:lnTo>
                <a:lnTo>
                  <a:pt x="2578534" y="2578534"/>
                </a:lnTo>
                <a:lnTo>
                  <a:pt x="0" y="257853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0" id="10"/>
          <p:cNvSpPr/>
          <p:nvPr/>
        </p:nvSpPr>
        <p:spPr>
          <a:xfrm flipH="false" flipV="false" rot="0">
            <a:off x="-1289267" y="-490830"/>
            <a:ext cx="2578533" cy="2578533"/>
          </a:xfrm>
          <a:custGeom>
            <a:avLst/>
            <a:gdLst/>
            <a:ahLst/>
            <a:cxnLst/>
            <a:rect r="r" b="b" t="t" l="l"/>
            <a:pathLst>
              <a:path h="2578533" w="2578533">
                <a:moveTo>
                  <a:pt x="0" y="0"/>
                </a:moveTo>
                <a:lnTo>
                  <a:pt x="2578534" y="0"/>
                </a:lnTo>
                <a:lnTo>
                  <a:pt x="2578534" y="2578534"/>
                </a:lnTo>
                <a:lnTo>
                  <a:pt x="0" y="257853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11" id="11"/>
          <p:cNvGrpSpPr/>
          <p:nvPr/>
        </p:nvGrpSpPr>
        <p:grpSpPr>
          <a:xfrm rot="0">
            <a:off x="2129385" y="-2859528"/>
            <a:ext cx="3911463" cy="3911463"/>
            <a:chOff x="0" y="0"/>
            <a:chExt cx="812800" cy="812800"/>
          </a:xfrm>
        </p:grpSpPr>
        <p:sp>
          <p:nvSpPr>
            <p:cNvPr name="Freeform 12" id="12"/>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474646"/>
            </a:solidFill>
          </p:spPr>
        </p:sp>
        <p:sp>
          <p:nvSpPr>
            <p:cNvPr name="TextBox 13" id="13"/>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sp>
        <p:nvSpPr>
          <p:cNvPr name="TextBox 14" id="14"/>
          <p:cNvSpPr txBox="true"/>
          <p:nvPr/>
        </p:nvSpPr>
        <p:spPr>
          <a:xfrm rot="0">
            <a:off x="3613174" y="956685"/>
            <a:ext cx="11061651" cy="877240"/>
          </a:xfrm>
          <a:prstGeom prst="rect">
            <a:avLst/>
          </a:prstGeom>
        </p:spPr>
        <p:txBody>
          <a:bodyPr anchor="t" rtlCol="false" tIns="0" lIns="0" bIns="0" rIns="0">
            <a:spAutoFit/>
          </a:bodyPr>
          <a:lstStyle/>
          <a:p>
            <a:pPr algn="ctr">
              <a:lnSpc>
                <a:spcPts val="7183"/>
              </a:lnSpc>
            </a:pPr>
            <a:r>
              <a:rPr lang="en-US" sz="5131" b="true">
                <a:solidFill>
                  <a:srgbClr val="000000"/>
                </a:solidFill>
                <a:latin typeface="Canva Sans Bold"/>
                <a:ea typeface="Canva Sans Bold"/>
                <a:cs typeface="Canva Sans Bold"/>
                <a:sym typeface="Canva Sans Bold"/>
              </a:rPr>
              <a:t>Graph Mining</a:t>
            </a:r>
          </a:p>
        </p:txBody>
      </p:sp>
      <p:sp>
        <p:nvSpPr>
          <p:cNvPr name="TextBox 15" id="15"/>
          <p:cNvSpPr txBox="true"/>
          <p:nvPr/>
        </p:nvSpPr>
        <p:spPr>
          <a:xfrm rot="0">
            <a:off x="1898051" y="3298266"/>
            <a:ext cx="14941333" cy="3364955"/>
          </a:xfrm>
          <a:prstGeom prst="rect">
            <a:avLst/>
          </a:prstGeom>
        </p:spPr>
        <p:txBody>
          <a:bodyPr anchor="t" rtlCol="false" tIns="0" lIns="0" bIns="0" rIns="0">
            <a:spAutoFit/>
          </a:bodyPr>
          <a:lstStyle/>
          <a:p>
            <a:pPr algn="just">
              <a:lnSpc>
                <a:spcPts val="6680"/>
              </a:lnSpc>
            </a:pPr>
            <a:r>
              <a:rPr lang="en-US" sz="4771" b="true">
                <a:solidFill>
                  <a:srgbClr val="000000"/>
                </a:solidFill>
                <a:latin typeface="Canva Sans Bold"/>
                <a:ea typeface="Canva Sans Bold"/>
                <a:cs typeface="Canva Sans Bold"/>
                <a:sym typeface="Canva Sans Bold"/>
              </a:rPr>
              <a:t>Graph mining deals with data represented as nodes (points) and edges (connections).</a:t>
            </a:r>
          </a:p>
          <a:p>
            <a:pPr algn="just">
              <a:lnSpc>
                <a:spcPts val="6680"/>
              </a:lnSpc>
            </a:pPr>
            <a:r>
              <a:rPr lang="en-US" sz="4771" b="true">
                <a:solidFill>
                  <a:srgbClr val="000000"/>
                </a:solidFill>
                <a:latin typeface="Canva Sans Bold"/>
                <a:ea typeface="Canva Sans Bold"/>
                <a:cs typeface="Canva Sans Bold"/>
                <a:sym typeface="Canva Sans Bold"/>
              </a:rPr>
              <a:t>It looks for patterns, structures, and relationships inside a graph.</a:t>
            </a:r>
          </a:p>
        </p:txBody>
      </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A6A6A6">
                <a:alpha val="100000"/>
              </a:srgbClr>
            </a:gs>
            <a:gs pos="100000">
              <a:srgbClr val="FFFFFF">
                <a:alpha val="100000"/>
              </a:srgbClr>
            </a:gs>
          </a:gsLst>
          <a:lin ang="0"/>
        </a:gradFill>
      </p:bgPr>
    </p:bg>
    <p:spTree>
      <p:nvGrpSpPr>
        <p:cNvPr id="1" name=""/>
        <p:cNvGrpSpPr/>
        <p:nvPr/>
      </p:nvGrpSpPr>
      <p:grpSpPr>
        <a:xfrm>
          <a:off x="0" y="0"/>
          <a:ext cx="0" cy="0"/>
          <a:chOff x="0" y="0"/>
          <a:chExt cx="0" cy="0"/>
        </a:xfrm>
      </p:grpSpPr>
      <p:sp>
        <p:nvSpPr>
          <p:cNvPr name="Freeform 2" id="2"/>
          <p:cNvSpPr/>
          <p:nvPr/>
        </p:nvSpPr>
        <p:spPr>
          <a:xfrm flipH="false" flipV="false" rot="0">
            <a:off x="-2057400" y="-1258963"/>
            <a:ext cx="4114800" cy="4114800"/>
          </a:xfrm>
          <a:custGeom>
            <a:avLst/>
            <a:gdLst/>
            <a:ahLst/>
            <a:cxnLst/>
            <a:rect r="r" b="b" t="t" l="l"/>
            <a:pathLst>
              <a:path h="4114800" w="4114800">
                <a:moveTo>
                  <a:pt x="0" y="0"/>
                </a:moveTo>
                <a:lnTo>
                  <a:pt x="4114800" y="0"/>
                </a:lnTo>
                <a:lnTo>
                  <a:pt x="4114800"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702233" y="-903796"/>
            <a:ext cx="3404467" cy="3404467"/>
          </a:xfrm>
          <a:custGeom>
            <a:avLst/>
            <a:gdLst/>
            <a:ahLst/>
            <a:cxnLst/>
            <a:rect r="r" b="b" t="t" l="l"/>
            <a:pathLst>
              <a:path h="3404467" w="3404467">
                <a:moveTo>
                  <a:pt x="0" y="0"/>
                </a:moveTo>
                <a:lnTo>
                  <a:pt x="3404466" y="0"/>
                </a:lnTo>
                <a:lnTo>
                  <a:pt x="3404466" y="3404466"/>
                </a:lnTo>
                <a:lnTo>
                  <a:pt x="0" y="340446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16230600" y="7200900"/>
            <a:ext cx="4114800" cy="4114800"/>
          </a:xfrm>
          <a:custGeom>
            <a:avLst/>
            <a:gdLst/>
            <a:ahLst/>
            <a:cxnLst/>
            <a:rect r="r" b="b" t="t" l="l"/>
            <a:pathLst>
              <a:path h="4114800" w="4114800">
                <a:moveTo>
                  <a:pt x="0" y="0"/>
                </a:moveTo>
                <a:lnTo>
                  <a:pt x="4114800" y="0"/>
                </a:lnTo>
                <a:lnTo>
                  <a:pt x="4114800"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0">
            <a:off x="16585767" y="7556067"/>
            <a:ext cx="3404467" cy="3404467"/>
          </a:xfrm>
          <a:custGeom>
            <a:avLst/>
            <a:gdLst/>
            <a:ahLst/>
            <a:cxnLst/>
            <a:rect r="r" b="b" t="t" l="l"/>
            <a:pathLst>
              <a:path h="3404467" w="3404467">
                <a:moveTo>
                  <a:pt x="0" y="0"/>
                </a:moveTo>
                <a:lnTo>
                  <a:pt x="3404466" y="0"/>
                </a:lnTo>
                <a:lnTo>
                  <a:pt x="3404466" y="3404466"/>
                </a:lnTo>
                <a:lnTo>
                  <a:pt x="0" y="340446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6" id="6"/>
          <p:cNvGrpSpPr/>
          <p:nvPr/>
        </p:nvGrpSpPr>
        <p:grpSpPr>
          <a:xfrm rot="0">
            <a:off x="12319137" y="9258300"/>
            <a:ext cx="3911463" cy="3911463"/>
            <a:chOff x="0" y="0"/>
            <a:chExt cx="812800" cy="812800"/>
          </a:xfrm>
        </p:grpSpPr>
        <p:sp>
          <p:nvSpPr>
            <p:cNvPr name="Freeform 7" id="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474646"/>
            </a:solidFill>
          </p:spPr>
        </p:sp>
        <p:sp>
          <p:nvSpPr>
            <p:cNvPr name="TextBox 8" id="8"/>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sp>
        <p:nvSpPr>
          <p:cNvPr name="Freeform 9" id="9"/>
          <p:cNvSpPr/>
          <p:nvPr/>
        </p:nvSpPr>
        <p:spPr>
          <a:xfrm flipH="false" flipV="false" rot="0">
            <a:off x="16998733" y="7969033"/>
            <a:ext cx="2578533" cy="2578533"/>
          </a:xfrm>
          <a:custGeom>
            <a:avLst/>
            <a:gdLst/>
            <a:ahLst/>
            <a:cxnLst/>
            <a:rect r="r" b="b" t="t" l="l"/>
            <a:pathLst>
              <a:path h="2578533" w="2578533">
                <a:moveTo>
                  <a:pt x="0" y="0"/>
                </a:moveTo>
                <a:lnTo>
                  <a:pt x="2578534" y="0"/>
                </a:lnTo>
                <a:lnTo>
                  <a:pt x="2578534" y="2578534"/>
                </a:lnTo>
                <a:lnTo>
                  <a:pt x="0" y="257853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0" id="10"/>
          <p:cNvSpPr/>
          <p:nvPr/>
        </p:nvSpPr>
        <p:spPr>
          <a:xfrm flipH="false" flipV="false" rot="0">
            <a:off x="-1289267" y="-490830"/>
            <a:ext cx="2578533" cy="2578533"/>
          </a:xfrm>
          <a:custGeom>
            <a:avLst/>
            <a:gdLst/>
            <a:ahLst/>
            <a:cxnLst/>
            <a:rect r="r" b="b" t="t" l="l"/>
            <a:pathLst>
              <a:path h="2578533" w="2578533">
                <a:moveTo>
                  <a:pt x="0" y="0"/>
                </a:moveTo>
                <a:lnTo>
                  <a:pt x="2578534" y="0"/>
                </a:lnTo>
                <a:lnTo>
                  <a:pt x="2578534" y="2578534"/>
                </a:lnTo>
                <a:lnTo>
                  <a:pt x="0" y="257853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11" id="11"/>
          <p:cNvGrpSpPr/>
          <p:nvPr/>
        </p:nvGrpSpPr>
        <p:grpSpPr>
          <a:xfrm rot="0">
            <a:off x="2129385" y="-2859528"/>
            <a:ext cx="3911463" cy="3911463"/>
            <a:chOff x="0" y="0"/>
            <a:chExt cx="812800" cy="812800"/>
          </a:xfrm>
        </p:grpSpPr>
        <p:sp>
          <p:nvSpPr>
            <p:cNvPr name="Freeform 12" id="12"/>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474646"/>
            </a:solidFill>
          </p:spPr>
        </p:sp>
        <p:sp>
          <p:nvSpPr>
            <p:cNvPr name="TextBox 13" id="13"/>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sp>
        <p:nvSpPr>
          <p:cNvPr name="TextBox 14" id="14"/>
          <p:cNvSpPr txBox="true"/>
          <p:nvPr/>
        </p:nvSpPr>
        <p:spPr>
          <a:xfrm rot="0">
            <a:off x="3613174" y="933450"/>
            <a:ext cx="11061651" cy="877240"/>
          </a:xfrm>
          <a:prstGeom prst="rect">
            <a:avLst/>
          </a:prstGeom>
        </p:spPr>
        <p:txBody>
          <a:bodyPr anchor="t" rtlCol="false" tIns="0" lIns="0" bIns="0" rIns="0">
            <a:spAutoFit/>
          </a:bodyPr>
          <a:lstStyle/>
          <a:p>
            <a:pPr algn="ctr">
              <a:lnSpc>
                <a:spcPts val="7183"/>
              </a:lnSpc>
            </a:pPr>
            <a:r>
              <a:rPr lang="en-US" sz="5131" b="true">
                <a:solidFill>
                  <a:srgbClr val="000000"/>
                </a:solidFill>
                <a:latin typeface="Canva Sans Bold"/>
                <a:ea typeface="Canva Sans Bold"/>
                <a:cs typeface="Canva Sans Bold"/>
                <a:sym typeface="Canva Sans Bold"/>
              </a:rPr>
              <a:t>Social Network Mining</a:t>
            </a:r>
          </a:p>
        </p:txBody>
      </p:sp>
      <p:sp>
        <p:nvSpPr>
          <p:cNvPr name="TextBox 15" id="15"/>
          <p:cNvSpPr txBox="true"/>
          <p:nvPr/>
        </p:nvSpPr>
        <p:spPr>
          <a:xfrm rot="0">
            <a:off x="1898051" y="3298266"/>
            <a:ext cx="14941333" cy="3364955"/>
          </a:xfrm>
          <a:prstGeom prst="rect">
            <a:avLst/>
          </a:prstGeom>
        </p:spPr>
        <p:txBody>
          <a:bodyPr anchor="t" rtlCol="false" tIns="0" lIns="0" bIns="0" rIns="0">
            <a:spAutoFit/>
          </a:bodyPr>
          <a:lstStyle/>
          <a:p>
            <a:pPr algn="just">
              <a:lnSpc>
                <a:spcPts val="6680"/>
              </a:lnSpc>
            </a:pPr>
            <a:r>
              <a:rPr lang="en-US" sz="4771" b="true">
                <a:solidFill>
                  <a:srgbClr val="000000"/>
                </a:solidFill>
                <a:latin typeface="Canva Sans Bold"/>
                <a:ea typeface="Canva Sans Bold"/>
                <a:cs typeface="Canva Sans Bold"/>
                <a:sym typeface="Canva Sans Bold"/>
              </a:rPr>
              <a:t>A specialized type of graph mining focused specifically on social networks (where nodes = people/accounts and edges = relationship</a:t>
            </a:r>
            <a:r>
              <a:rPr lang="en-US" sz="4771" b="true">
                <a:solidFill>
                  <a:srgbClr val="000000"/>
                </a:solidFill>
                <a:latin typeface="Canva Sans Bold"/>
                <a:ea typeface="Canva Sans Bold"/>
                <a:cs typeface="Canva Sans Bold"/>
                <a:sym typeface="Canva Sans Bold"/>
              </a:rPr>
              <a:t>s or interactions).</a:t>
            </a:r>
          </a:p>
        </p:txBody>
      </p:sp>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A6A6A6">
                <a:alpha val="100000"/>
              </a:srgbClr>
            </a:gs>
            <a:gs pos="100000">
              <a:srgbClr val="FFFFFF">
                <a:alpha val="100000"/>
              </a:srgbClr>
            </a:gs>
          </a:gsLst>
          <a:lin ang="0"/>
        </a:gradFill>
      </p:bgPr>
    </p:bg>
    <p:spTree>
      <p:nvGrpSpPr>
        <p:cNvPr id="1" name=""/>
        <p:cNvGrpSpPr/>
        <p:nvPr/>
      </p:nvGrpSpPr>
      <p:grpSpPr>
        <a:xfrm>
          <a:off x="0" y="0"/>
          <a:ext cx="0" cy="0"/>
          <a:chOff x="0" y="0"/>
          <a:chExt cx="0" cy="0"/>
        </a:xfrm>
      </p:grpSpPr>
      <p:sp>
        <p:nvSpPr>
          <p:cNvPr name="Freeform 2" id="2"/>
          <p:cNvSpPr/>
          <p:nvPr/>
        </p:nvSpPr>
        <p:spPr>
          <a:xfrm flipH="false" flipV="false" rot="0">
            <a:off x="-2057400" y="-1258963"/>
            <a:ext cx="4114800" cy="4114800"/>
          </a:xfrm>
          <a:custGeom>
            <a:avLst/>
            <a:gdLst/>
            <a:ahLst/>
            <a:cxnLst/>
            <a:rect r="r" b="b" t="t" l="l"/>
            <a:pathLst>
              <a:path h="4114800" w="4114800">
                <a:moveTo>
                  <a:pt x="0" y="0"/>
                </a:moveTo>
                <a:lnTo>
                  <a:pt x="4114800" y="0"/>
                </a:lnTo>
                <a:lnTo>
                  <a:pt x="4114800"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702233" y="-903796"/>
            <a:ext cx="3404467" cy="3404467"/>
          </a:xfrm>
          <a:custGeom>
            <a:avLst/>
            <a:gdLst/>
            <a:ahLst/>
            <a:cxnLst/>
            <a:rect r="r" b="b" t="t" l="l"/>
            <a:pathLst>
              <a:path h="3404467" w="3404467">
                <a:moveTo>
                  <a:pt x="0" y="0"/>
                </a:moveTo>
                <a:lnTo>
                  <a:pt x="3404466" y="0"/>
                </a:lnTo>
                <a:lnTo>
                  <a:pt x="3404466" y="3404466"/>
                </a:lnTo>
                <a:lnTo>
                  <a:pt x="0" y="340446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16230600" y="7200900"/>
            <a:ext cx="4114800" cy="4114800"/>
          </a:xfrm>
          <a:custGeom>
            <a:avLst/>
            <a:gdLst/>
            <a:ahLst/>
            <a:cxnLst/>
            <a:rect r="r" b="b" t="t" l="l"/>
            <a:pathLst>
              <a:path h="4114800" w="4114800">
                <a:moveTo>
                  <a:pt x="0" y="0"/>
                </a:moveTo>
                <a:lnTo>
                  <a:pt x="4114800" y="0"/>
                </a:lnTo>
                <a:lnTo>
                  <a:pt x="4114800"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0">
            <a:off x="16585767" y="7556067"/>
            <a:ext cx="3404467" cy="3404467"/>
          </a:xfrm>
          <a:custGeom>
            <a:avLst/>
            <a:gdLst/>
            <a:ahLst/>
            <a:cxnLst/>
            <a:rect r="r" b="b" t="t" l="l"/>
            <a:pathLst>
              <a:path h="3404467" w="3404467">
                <a:moveTo>
                  <a:pt x="0" y="0"/>
                </a:moveTo>
                <a:lnTo>
                  <a:pt x="3404466" y="0"/>
                </a:lnTo>
                <a:lnTo>
                  <a:pt x="3404466" y="3404466"/>
                </a:lnTo>
                <a:lnTo>
                  <a:pt x="0" y="340446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6" id="6"/>
          <p:cNvGrpSpPr/>
          <p:nvPr/>
        </p:nvGrpSpPr>
        <p:grpSpPr>
          <a:xfrm rot="0">
            <a:off x="12319137" y="9258300"/>
            <a:ext cx="3911463" cy="3911463"/>
            <a:chOff x="0" y="0"/>
            <a:chExt cx="812800" cy="812800"/>
          </a:xfrm>
        </p:grpSpPr>
        <p:sp>
          <p:nvSpPr>
            <p:cNvPr name="Freeform 7" id="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474646"/>
            </a:solidFill>
          </p:spPr>
        </p:sp>
        <p:sp>
          <p:nvSpPr>
            <p:cNvPr name="TextBox 8" id="8"/>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sp>
        <p:nvSpPr>
          <p:cNvPr name="Freeform 9" id="9"/>
          <p:cNvSpPr/>
          <p:nvPr/>
        </p:nvSpPr>
        <p:spPr>
          <a:xfrm flipH="false" flipV="false" rot="0">
            <a:off x="16998733" y="7969033"/>
            <a:ext cx="2578533" cy="2578533"/>
          </a:xfrm>
          <a:custGeom>
            <a:avLst/>
            <a:gdLst/>
            <a:ahLst/>
            <a:cxnLst/>
            <a:rect r="r" b="b" t="t" l="l"/>
            <a:pathLst>
              <a:path h="2578533" w="2578533">
                <a:moveTo>
                  <a:pt x="0" y="0"/>
                </a:moveTo>
                <a:lnTo>
                  <a:pt x="2578534" y="0"/>
                </a:lnTo>
                <a:lnTo>
                  <a:pt x="2578534" y="2578534"/>
                </a:lnTo>
                <a:lnTo>
                  <a:pt x="0" y="257853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0" id="10"/>
          <p:cNvSpPr/>
          <p:nvPr/>
        </p:nvSpPr>
        <p:spPr>
          <a:xfrm flipH="false" flipV="false" rot="0">
            <a:off x="-1289267" y="-490830"/>
            <a:ext cx="2578533" cy="2578533"/>
          </a:xfrm>
          <a:custGeom>
            <a:avLst/>
            <a:gdLst/>
            <a:ahLst/>
            <a:cxnLst/>
            <a:rect r="r" b="b" t="t" l="l"/>
            <a:pathLst>
              <a:path h="2578533" w="2578533">
                <a:moveTo>
                  <a:pt x="0" y="0"/>
                </a:moveTo>
                <a:lnTo>
                  <a:pt x="2578534" y="0"/>
                </a:lnTo>
                <a:lnTo>
                  <a:pt x="2578534" y="2578534"/>
                </a:lnTo>
                <a:lnTo>
                  <a:pt x="0" y="257853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11" id="11"/>
          <p:cNvGrpSpPr/>
          <p:nvPr/>
        </p:nvGrpSpPr>
        <p:grpSpPr>
          <a:xfrm rot="0">
            <a:off x="2129385" y="-2859528"/>
            <a:ext cx="3911463" cy="3911463"/>
            <a:chOff x="0" y="0"/>
            <a:chExt cx="812800" cy="812800"/>
          </a:xfrm>
        </p:grpSpPr>
        <p:sp>
          <p:nvSpPr>
            <p:cNvPr name="Freeform 12" id="12"/>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474646"/>
            </a:solidFill>
          </p:spPr>
        </p:sp>
        <p:sp>
          <p:nvSpPr>
            <p:cNvPr name="TextBox 13" id="13"/>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sp>
        <p:nvSpPr>
          <p:cNvPr name="Freeform 14" id="14"/>
          <p:cNvSpPr/>
          <p:nvPr/>
        </p:nvSpPr>
        <p:spPr>
          <a:xfrm flipH="false" flipV="false" rot="0">
            <a:off x="1497454" y="131972"/>
            <a:ext cx="15088313" cy="10058875"/>
          </a:xfrm>
          <a:custGeom>
            <a:avLst/>
            <a:gdLst/>
            <a:ahLst/>
            <a:cxnLst/>
            <a:rect r="r" b="b" t="t" l="l"/>
            <a:pathLst>
              <a:path h="10058875" w="15088313">
                <a:moveTo>
                  <a:pt x="0" y="0"/>
                </a:moveTo>
                <a:lnTo>
                  <a:pt x="15088313" y="0"/>
                </a:lnTo>
                <a:lnTo>
                  <a:pt x="15088313" y="10058876"/>
                </a:lnTo>
                <a:lnTo>
                  <a:pt x="0" y="10058876"/>
                </a:lnTo>
                <a:lnTo>
                  <a:pt x="0" y="0"/>
                </a:lnTo>
                <a:close/>
              </a:path>
            </a:pathLst>
          </a:custGeom>
          <a:blipFill>
            <a:blip r:embed="rId4"/>
            <a:stretch>
              <a:fillRect l="0" t="0" r="0" b="0"/>
            </a:stretch>
          </a:blipFill>
        </p:spPr>
      </p:sp>
    </p:spTree>
  </p:cSld>
  <p:clrMapOvr>
    <a:masterClrMapping/>
  </p:clrMapOvr>
</p:sld>
</file>

<file path=ppt/slides/slide18.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A6A6A6">
                <a:alpha val="100000"/>
              </a:srgbClr>
            </a:gs>
            <a:gs pos="100000">
              <a:srgbClr val="FFFFFF">
                <a:alpha val="100000"/>
              </a:srgbClr>
            </a:gs>
          </a:gsLst>
          <a:lin ang="0"/>
        </a:gradFill>
      </p:bgPr>
    </p:bg>
    <p:spTree>
      <p:nvGrpSpPr>
        <p:cNvPr id="1" name=""/>
        <p:cNvGrpSpPr/>
        <p:nvPr/>
      </p:nvGrpSpPr>
      <p:grpSpPr>
        <a:xfrm>
          <a:off x="0" y="0"/>
          <a:ext cx="0" cy="0"/>
          <a:chOff x="0" y="0"/>
          <a:chExt cx="0" cy="0"/>
        </a:xfrm>
      </p:grpSpPr>
      <p:sp>
        <p:nvSpPr>
          <p:cNvPr name="Freeform 2" id="2"/>
          <p:cNvSpPr/>
          <p:nvPr/>
        </p:nvSpPr>
        <p:spPr>
          <a:xfrm flipH="false" flipV="false" rot="0">
            <a:off x="-2057400" y="-1258963"/>
            <a:ext cx="4114800" cy="4114800"/>
          </a:xfrm>
          <a:custGeom>
            <a:avLst/>
            <a:gdLst/>
            <a:ahLst/>
            <a:cxnLst/>
            <a:rect r="r" b="b" t="t" l="l"/>
            <a:pathLst>
              <a:path h="4114800" w="4114800">
                <a:moveTo>
                  <a:pt x="0" y="0"/>
                </a:moveTo>
                <a:lnTo>
                  <a:pt x="4114800" y="0"/>
                </a:lnTo>
                <a:lnTo>
                  <a:pt x="4114800"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702233" y="-903796"/>
            <a:ext cx="3404467" cy="3404467"/>
          </a:xfrm>
          <a:custGeom>
            <a:avLst/>
            <a:gdLst/>
            <a:ahLst/>
            <a:cxnLst/>
            <a:rect r="r" b="b" t="t" l="l"/>
            <a:pathLst>
              <a:path h="3404467" w="3404467">
                <a:moveTo>
                  <a:pt x="0" y="0"/>
                </a:moveTo>
                <a:lnTo>
                  <a:pt x="3404466" y="0"/>
                </a:lnTo>
                <a:lnTo>
                  <a:pt x="3404466" y="3404466"/>
                </a:lnTo>
                <a:lnTo>
                  <a:pt x="0" y="340446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16230600" y="7200900"/>
            <a:ext cx="4114800" cy="4114800"/>
          </a:xfrm>
          <a:custGeom>
            <a:avLst/>
            <a:gdLst/>
            <a:ahLst/>
            <a:cxnLst/>
            <a:rect r="r" b="b" t="t" l="l"/>
            <a:pathLst>
              <a:path h="4114800" w="4114800">
                <a:moveTo>
                  <a:pt x="0" y="0"/>
                </a:moveTo>
                <a:lnTo>
                  <a:pt x="4114800" y="0"/>
                </a:lnTo>
                <a:lnTo>
                  <a:pt x="4114800"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0">
            <a:off x="16585767" y="7556067"/>
            <a:ext cx="3404467" cy="3404467"/>
          </a:xfrm>
          <a:custGeom>
            <a:avLst/>
            <a:gdLst/>
            <a:ahLst/>
            <a:cxnLst/>
            <a:rect r="r" b="b" t="t" l="l"/>
            <a:pathLst>
              <a:path h="3404467" w="3404467">
                <a:moveTo>
                  <a:pt x="0" y="0"/>
                </a:moveTo>
                <a:lnTo>
                  <a:pt x="3404466" y="0"/>
                </a:lnTo>
                <a:lnTo>
                  <a:pt x="3404466" y="3404466"/>
                </a:lnTo>
                <a:lnTo>
                  <a:pt x="0" y="340446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6" id="6"/>
          <p:cNvGrpSpPr/>
          <p:nvPr/>
        </p:nvGrpSpPr>
        <p:grpSpPr>
          <a:xfrm rot="0">
            <a:off x="12319137" y="9258300"/>
            <a:ext cx="3911463" cy="3911463"/>
            <a:chOff x="0" y="0"/>
            <a:chExt cx="812800" cy="812800"/>
          </a:xfrm>
        </p:grpSpPr>
        <p:sp>
          <p:nvSpPr>
            <p:cNvPr name="Freeform 7" id="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474646"/>
            </a:solidFill>
          </p:spPr>
        </p:sp>
        <p:sp>
          <p:nvSpPr>
            <p:cNvPr name="TextBox 8" id="8"/>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sp>
        <p:nvSpPr>
          <p:cNvPr name="Freeform 9" id="9"/>
          <p:cNvSpPr/>
          <p:nvPr/>
        </p:nvSpPr>
        <p:spPr>
          <a:xfrm flipH="false" flipV="false" rot="0">
            <a:off x="16998733" y="7969033"/>
            <a:ext cx="2578533" cy="2578533"/>
          </a:xfrm>
          <a:custGeom>
            <a:avLst/>
            <a:gdLst/>
            <a:ahLst/>
            <a:cxnLst/>
            <a:rect r="r" b="b" t="t" l="l"/>
            <a:pathLst>
              <a:path h="2578533" w="2578533">
                <a:moveTo>
                  <a:pt x="0" y="0"/>
                </a:moveTo>
                <a:lnTo>
                  <a:pt x="2578534" y="0"/>
                </a:lnTo>
                <a:lnTo>
                  <a:pt x="2578534" y="2578534"/>
                </a:lnTo>
                <a:lnTo>
                  <a:pt x="0" y="257853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0" id="10"/>
          <p:cNvSpPr/>
          <p:nvPr/>
        </p:nvSpPr>
        <p:spPr>
          <a:xfrm flipH="false" flipV="false" rot="0">
            <a:off x="-1289267" y="-490830"/>
            <a:ext cx="2578533" cy="2578533"/>
          </a:xfrm>
          <a:custGeom>
            <a:avLst/>
            <a:gdLst/>
            <a:ahLst/>
            <a:cxnLst/>
            <a:rect r="r" b="b" t="t" l="l"/>
            <a:pathLst>
              <a:path h="2578533" w="2578533">
                <a:moveTo>
                  <a:pt x="0" y="0"/>
                </a:moveTo>
                <a:lnTo>
                  <a:pt x="2578534" y="0"/>
                </a:lnTo>
                <a:lnTo>
                  <a:pt x="2578534" y="2578534"/>
                </a:lnTo>
                <a:lnTo>
                  <a:pt x="0" y="257853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11" id="11"/>
          <p:cNvGrpSpPr/>
          <p:nvPr/>
        </p:nvGrpSpPr>
        <p:grpSpPr>
          <a:xfrm rot="0">
            <a:off x="2129385" y="-2859528"/>
            <a:ext cx="3911463" cy="3911463"/>
            <a:chOff x="0" y="0"/>
            <a:chExt cx="812800" cy="812800"/>
          </a:xfrm>
        </p:grpSpPr>
        <p:sp>
          <p:nvSpPr>
            <p:cNvPr name="Freeform 12" id="12"/>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474646"/>
            </a:solidFill>
          </p:spPr>
        </p:sp>
        <p:sp>
          <p:nvSpPr>
            <p:cNvPr name="TextBox 13" id="13"/>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sp>
        <p:nvSpPr>
          <p:cNvPr name="TextBox 14" id="14"/>
          <p:cNvSpPr txBox="true"/>
          <p:nvPr/>
        </p:nvSpPr>
        <p:spPr>
          <a:xfrm rot="0">
            <a:off x="5856893" y="914400"/>
            <a:ext cx="5993024" cy="965989"/>
          </a:xfrm>
          <a:prstGeom prst="rect">
            <a:avLst/>
          </a:prstGeom>
        </p:spPr>
        <p:txBody>
          <a:bodyPr anchor="t" rtlCol="false" tIns="0" lIns="0" bIns="0" rIns="0">
            <a:spAutoFit/>
          </a:bodyPr>
          <a:lstStyle/>
          <a:p>
            <a:pPr algn="ctr">
              <a:lnSpc>
                <a:spcPts val="7823"/>
              </a:lnSpc>
            </a:pPr>
            <a:r>
              <a:rPr lang="en-US" b="true" sz="5588" i="true">
                <a:solidFill>
                  <a:srgbClr val="000000"/>
                </a:solidFill>
                <a:latin typeface="Canva Sans Bold Italics"/>
                <a:ea typeface="Canva Sans Bold Italics"/>
                <a:cs typeface="Canva Sans Bold Italics"/>
                <a:sym typeface="Canva Sans Bold Italics"/>
              </a:rPr>
              <a:t>Deep Learning</a:t>
            </a:r>
          </a:p>
        </p:txBody>
      </p:sp>
      <p:sp>
        <p:nvSpPr>
          <p:cNvPr name="TextBox 15" id="15"/>
          <p:cNvSpPr txBox="true"/>
          <p:nvPr/>
        </p:nvSpPr>
        <p:spPr>
          <a:xfrm rot="0">
            <a:off x="1028700" y="2433995"/>
            <a:ext cx="17796718" cy="7114695"/>
          </a:xfrm>
          <a:prstGeom prst="rect">
            <a:avLst/>
          </a:prstGeom>
        </p:spPr>
        <p:txBody>
          <a:bodyPr anchor="t" rtlCol="false" tIns="0" lIns="0" bIns="0" rIns="0">
            <a:spAutoFit/>
          </a:bodyPr>
          <a:lstStyle/>
          <a:p>
            <a:pPr algn="l">
              <a:lnSpc>
                <a:spcPts val="4680"/>
              </a:lnSpc>
            </a:pPr>
            <a:r>
              <a:rPr lang="en-US" sz="3343" b="true">
                <a:solidFill>
                  <a:srgbClr val="000000"/>
                </a:solidFill>
                <a:latin typeface="Canva Sans Bold"/>
                <a:ea typeface="Canva Sans Bold"/>
                <a:cs typeface="Canva Sans Bold"/>
                <a:sym typeface="Canva Sans Bold"/>
              </a:rPr>
              <a:t>Deep learning is a subfield of machine learning that uses multi-layered neural networks to automatically le</a:t>
            </a:r>
            <a:r>
              <a:rPr lang="en-US" b="true" sz="3343">
                <a:solidFill>
                  <a:srgbClr val="000000"/>
                </a:solidFill>
                <a:latin typeface="Canva Sans Bold"/>
                <a:ea typeface="Canva Sans Bold"/>
                <a:cs typeface="Canva Sans Bold"/>
                <a:sym typeface="Canva Sans Bold"/>
              </a:rPr>
              <a:t>arn complex patterns and features from raw, unstructured data, making it a powerful tool in data science for tasks like image recognition, natural language processing, and predictive modeling.</a:t>
            </a:r>
          </a:p>
          <a:p>
            <a:pPr algn="l">
              <a:lnSpc>
                <a:spcPts val="4680"/>
              </a:lnSpc>
            </a:pPr>
            <a:r>
              <a:rPr lang="en-US" b="true" sz="3343">
                <a:solidFill>
                  <a:srgbClr val="000000"/>
                </a:solidFill>
                <a:latin typeface="Canva Sans Bold"/>
                <a:ea typeface="Canva Sans Bold"/>
                <a:cs typeface="Canva Sans Bold"/>
                <a:sym typeface="Canva Sans Bold"/>
              </a:rPr>
              <a:t>How it works (Step by Step):</a:t>
            </a:r>
          </a:p>
          <a:p>
            <a:pPr algn="l" marL="721787" indent="-360894" lvl="1">
              <a:lnSpc>
                <a:spcPts val="4680"/>
              </a:lnSpc>
              <a:buFont typeface="Arial"/>
              <a:buChar char="•"/>
            </a:pPr>
            <a:r>
              <a:rPr lang="en-US" b="true" sz="3343">
                <a:solidFill>
                  <a:srgbClr val="000000"/>
                </a:solidFill>
                <a:latin typeface="Canva Sans Bold"/>
                <a:ea typeface="Canva Sans Bold"/>
                <a:cs typeface="Canva Sans Bold"/>
                <a:sym typeface="Canva Sans Bold"/>
              </a:rPr>
              <a:t>Input Layer → Data goes in (is this a cat or dog?).</a:t>
            </a:r>
          </a:p>
          <a:p>
            <a:pPr algn="l" marL="721787" indent="-360894" lvl="1">
              <a:lnSpc>
                <a:spcPts val="4680"/>
              </a:lnSpc>
              <a:buFont typeface="Arial"/>
              <a:buChar char="•"/>
            </a:pPr>
            <a:r>
              <a:rPr lang="en-US" b="true" sz="3343">
                <a:solidFill>
                  <a:srgbClr val="000000"/>
                </a:solidFill>
                <a:latin typeface="Canva Sans Bold"/>
                <a:ea typeface="Canva Sans Bold"/>
                <a:cs typeface="Canva Sans Bold"/>
                <a:sym typeface="Canva Sans Bold"/>
              </a:rPr>
              <a:t>Hidden Layers → Multiple layers of neurons process and transform the data, detecting patterns.</a:t>
            </a:r>
          </a:p>
          <a:p>
            <a:pPr algn="l" marL="1443574" indent="-481191" lvl="2">
              <a:lnSpc>
                <a:spcPts val="4680"/>
              </a:lnSpc>
              <a:buFont typeface="Arial"/>
              <a:buChar char="⚬"/>
            </a:pPr>
            <a:r>
              <a:rPr lang="en-US" b="true" sz="3343">
                <a:solidFill>
                  <a:srgbClr val="000000"/>
                </a:solidFill>
                <a:latin typeface="Canva Sans Bold"/>
                <a:ea typeface="Canva Sans Bold"/>
                <a:cs typeface="Canva Sans Bold"/>
                <a:sym typeface="Canva Sans Bold"/>
              </a:rPr>
              <a:t>Early layers: detect simple features (edges, colors).</a:t>
            </a:r>
          </a:p>
          <a:p>
            <a:pPr algn="l" marL="1443574" indent="-481191" lvl="2">
              <a:lnSpc>
                <a:spcPts val="4680"/>
              </a:lnSpc>
              <a:buFont typeface="Arial"/>
              <a:buChar char="⚬"/>
            </a:pPr>
            <a:r>
              <a:rPr lang="en-US" b="true" sz="3343">
                <a:solidFill>
                  <a:srgbClr val="000000"/>
                </a:solidFill>
                <a:latin typeface="Canva Sans Bold"/>
                <a:ea typeface="Canva Sans Bold"/>
                <a:cs typeface="Canva Sans Bold"/>
                <a:sym typeface="Canva Sans Bold"/>
              </a:rPr>
              <a:t>Deeper layers: detect complex features (faces, objects, body).</a:t>
            </a:r>
          </a:p>
          <a:p>
            <a:pPr algn="l" marL="721787" indent="-360894" lvl="1">
              <a:lnSpc>
                <a:spcPts val="4680"/>
              </a:lnSpc>
              <a:buFont typeface="Arial"/>
              <a:buChar char="•"/>
            </a:pPr>
            <a:r>
              <a:rPr lang="en-US" b="true" sz="3343">
                <a:solidFill>
                  <a:srgbClr val="000000"/>
                </a:solidFill>
                <a:latin typeface="Canva Sans Bold"/>
                <a:ea typeface="Canva Sans Bold"/>
                <a:cs typeface="Canva Sans Bold"/>
                <a:sym typeface="Canva Sans Bold"/>
              </a:rPr>
              <a:t>Output Layer → Final prediction (“cat” or “dog”).</a:t>
            </a:r>
          </a:p>
          <a:p>
            <a:pPr algn="l">
              <a:lnSpc>
                <a:spcPts val="4680"/>
              </a:lnSpc>
            </a:pPr>
          </a:p>
        </p:txBody>
      </p:sp>
    </p:spTree>
  </p:cSld>
  <p:clrMapOvr>
    <a:masterClrMapping/>
  </p:clrMapOvr>
</p:sld>
</file>

<file path=ppt/slides/slide19.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A6A6A6">
                <a:alpha val="100000"/>
              </a:srgbClr>
            </a:gs>
            <a:gs pos="100000">
              <a:srgbClr val="FFFFFF">
                <a:alpha val="100000"/>
              </a:srgbClr>
            </a:gs>
          </a:gsLst>
          <a:lin ang="0"/>
        </a:gradFill>
      </p:bgPr>
    </p:bg>
    <p:spTree>
      <p:nvGrpSpPr>
        <p:cNvPr id="1" name=""/>
        <p:cNvGrpSpPr/>
        <p:nvPr/>
      </p:nvGrpSpPr>
      <p:grpSpPr>
        <a:xfrm>
          <a:off x="0" y="0"/>
          <a:ext cx="0" cy="0"/>
          <a:chOff x="0" y="0"/>
          <a:chExt cx="0" cy="0"/>
        </a:xfrm>
      </p:grpSpPr>
      <p:sp>
        <p:nvSpPr>
          <p:cNvPr name="Freeform 2" id="2"/>
          <p:cNvSpPr/>
          <p:nvPr/>
        </p:nvSpPr>
        <p:spPr>
          <a:xfrm flipH="false" flipV="false" rot="0">
            <a:off x="-2057400" y="-1258963"/>
            <a:ext cx="4114800" cy="4114800"/>
          </a:xfrm>
          <a:custGeom>
            <a:avLst/>
            <a:gdLst/>
            <a:ahLst/>
            <a:cxnLst/>
            <a:rect r="r" b="b" t="t" l="l"/>
            <a:pathLst>
              <a:path h="4114800" w="4114800">
                <a:moveTo>
                  <a:pt x="0" y="0"/>
                </a:moveTo>
                <a:lnTo>
                  <a:pt x="4114800" y="0"/>
                </a:lnTo>
                <a:lnTo>
                  <a:pt x="4114800"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702233" y="-903796"/>
            <a:ext cx="3404467" cy="3404467"/>
          </a:xfrm>
          <a:custGeom>
            <a:avLst/>
            <a:gdLst/>
            <a:ahLst/>
            <a:cxnLst/>
            <a:rect r="r" b="b" t="t" l="l"/>
            <a:pathLst>
              <a:path h="3404467" w="3404467">
                <a:moveTo>
                  <a:pt x="0" y="0"/>
                </a:moveTo>
                <a:lnTo>
                  <a:pt x="3404466" y="0"/>
                </a:lnTo>
                <a:lnTo>
                  <a:pt x="3404466" y="3404466"/>
                </a:lnTo>
                <a:lnTo>
                  <a:pt x="0" y="340446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16230600" y="7200900"/>
            <a:ext cx="4114800" cy="4114800"/>
          </a:xfrm>
          <a:custGeom>
            <a:avLst/>
            <a:gdLst/>
            <a:ahLst/>
            <a:cxnLst/>
            <a:rect r="r" b="b" t="t" l="l"/>
            <a:pathLst>
              <a:path h="4114800" w="4114800">
                <a:moveTo>
                  <a:pt x="0" y="0"/>
                </a:moveTo>
                <a:lnTo>
                  <a:pt x="4114800" y="0"/>
                </a:lnTo>
                <a:lnTo>
                  <a:pt x="4114800"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0">
            <a:off x="16585767" y="7556067"/>
            <a:ext cx="3404467" cy="3404467"/>
          </a:xfrm>
          <a:custGeom>
            <a:avLst/>
            <a:gdLst/>
            <a:ahLst/>
            <a:cxnLst/>
            <a:rect r="r" b="b" t="t" l="l"/>
            <a:pathLst>
              <a:path h="3404467" w="3404467">
                <a:moveTo>
                  <a:pt x="0" y="0"/>
                </a:moveTo>
                <a:lnTo>
                  <a:pt x="3404466" y="0"/>
                </a:lnTo>
                <a:lnTo>
                  <a:pt x="3404466" y="3404466"/>
                </a:lnTo>
                <a:lnTo>
                  <a:pt x="0" y="340446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6" id="6"/>
          <p:cNvGrpSpPr/>
          <p:nvPr/>
        </p:nvGrpSpPr>
        <p:grpSpPr>
          <a:xfrm rot="0">
            <a:off x="12319137" y="9258300"/>
            <a:ext cx="3911463" cy="3911463"/>
            <a:chOff x="0" y="0"/>
            <a:chExt cx="812800" cy="812800"/>
          </a:xfrm>
        </p:grpSpPr>
        <p:sp>
          <p:nvSpPr>
            <p:cNvPr name="Freeform 7" id="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474646"/>
            </a:solidFill>
          </p:spPr>
        </p:sp>
        <p:sp>
          <p:nvSpPr>
            <p:cNvPr name="TextBox 8" id="8"/>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sp>
        <p:nvSpPr>
          <p:cNvPr name="Freeform 9" id="9"/>
          <p:cNvSpPr/>
          <p:nvPr/>
        </p:nvSpPr>
        <p:spPr>
          <a:xfrm flipH="false" flipV="false" rot="0">
            <a:off x="16998733" y="7969033"/>
            <a:ext cx="2578533" cy="2578533"/>
          </a:xfrm>
          <a:custGeom>
            <a:avLst/>
            <a:gdLst/>
            <a:ahLst/>
            <a:cxnLst/>
            <a:rect r="r" b="b" t="t" l="l"/>
            <a:pathLst>
              <a:path h="2578533" w="2578533">
                <a:moveTo>
                  <a:pt x="0" y="0"/>
                </a:moveTo>
                <a:lnTo>
                  <a:pt x="2578534" y="0"/>
                </a:lnTo>
                <a:lnTo>
                  <a:pt x="2578534" y="2578534"/>
                </a:lnTo>
                <a:lnTo>
                  <a:pt x="0" y="257853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0" id="10"/>
          <p:cNvSpPr/>
          <p:nvPr/>
        </p:nvSpPr>
        <p:spPr>
          <a:xfrm flipH="false" flipV="false" rot="0">
            <a:off x="-1289267" y="-490830"/>
            <a:ext cx="2578533" cy="2578533"/>
          </a:xfrm>
          <a:custGeom>
            <a:avLst/>
            <a:gdLst/>
            <a:ahLst/>
            <a:cxnLst/>
            <a:rect r="r" b="b" t="t" l="l"/>
            <a:pathLst>
              <a:path h="2578533" w="2578533">
                <a:moveTo>
                  <a:pt x="0" y="0"/>
                </a:moveTo>
                <a:lnTo>
                  <a:pt x="2578534" y="0"/>
                </a:lnTo>
                <a:lnTo>
                  <a:pt x="2578534" y="2578534"/>
                </a:lnTo>
                <a:lnTo>
                  <a:pt x="0" y="257853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11" id="11"/>
          <p:cNvGrpSpPr/>
          <p:nvPr/>
        </p:nvGrpSpPr>
        <p:grpSpPr>
          <a:xfrm rot="0">
            <a:off x="2129385" y="-2859528"/>
            <a:ext cx="3911463" cy="3911463"/>
            <a:chOff x="0" y="0"/>
            <a:chExt cx="812800" cy="812800"/>
          </a:xfrm>
        </p:grpSpPr>
        <p:sp>
          <p:nvSpPr>
            <p:cNvPr name="Freeform 12" id="12"/>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474646"/>
            </a:solidFill>
          </p:spPr>
        </p:sp>
        <p:sp>
          <p:nvSpPr>
            <p:cNvPr name="TextBox 13" id="13"/>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sp>
        <p:nvSpPr>
          <p:cNvPr name="Freeform 14" id="14"/>
          <p:cNvSpPr/>
          <p:nvPr/>
        </p:nvSpPr>
        <p:spPr>
          <a:xfrm flipH="false" flipV="false" rot="0">
            <a:off x="1702233" y="147108"/>
            <a:ext cx="15244711" cy="9992785"/>
          </a:xfrm>
          <a:custGeom>
            <a:avLst/>
            <a:gdLst/>
            <a:ahLst/>
            <a:cxnLst/>
            <a:rect r="r" b="b" t="t" l="l"/>
            <a:pathLst>
              <a:path h="9992785" w="15244711">
                <a:moveTo>
                  <a:pt x="0" y="0"/>
                </a:moveTo>
                <a:lnTo>
                  <a:pt x="15244712" y="0"/>
                </a:lnTo>
                <a:lnTo>
                  <a:pt x="15244712" y="9992784"/>
                </a:lnTo>
                <a:lnTo>
                  <a:pt x="0" y="9992784"/>
                </a:lnTo>
                <a:lnTo>
                  <a:pt x="0" y="0"/>
                </a:lnTo>
                <a:close/>
              </a:path>
            </a:pathLst>
          </a:custGeom>
          <a:blipFill>
            <a:blip r:embed="rId4"/>
            <a:stretch>
              <a:fillRect l="0" t="-852" r="0" b="-852"/>
            </a:stretch>
          </a:blipFill>
        </p:spPr>
      </p:sp>
    </p:spTree>
  </p:cSld>
  <p:clrMapOvr>
    <a:masterClrMapping/>
  </p:clrMapOvr>
</p:sld>
</file>

<file path=ppt/slides/slide20.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A6A6A6">
                <a:alpha val="100000"/>
              </a:srgbClr>
            </a:gs>
            <a:gs pos="100000">
              <a:srgbClr val="FFFFFF">
                <a:alpha val="100000"/>
              </a:srgbClr>
            </a:gs>
          </a:gsLst>
          <a:lin ang="0"/>
        </a:gradFill>
      </p:bgPr>
    </p:bg>
    <p:spTree>
      <p:nvGrpSpPr>
        <p:cNvPr id="1" name=""/>
        <p:cNvGrpSpPr/>
        <p:nvPr/>
      </p:nvGrpSpPr>
      <p:grpSpPr>
        <a:xfrm>
          <a:off x="0" y="0"/>
          <a:ext cx="0" cy="0"/>
          <a:chOff x="0" y="0"/>
          <a:chExt cx="0" cy="0"/>
        </a:xfrm>
      </p:grpSpPr>
      <p:sp>
        <p:nvSpPr>
          <p:cNvPr name="Freeform 2" id="2"/>
          <p:cNvSpPr/>
          <p:nvPr/>
        </p:nvSpPr>
        <p:spPr>
          <a:xfrm flipH="false" flipV="false" rot="0">
            <a:off x="-2057400" y="-1258963"/>
            <a:ext cx="4114800" cy="4114800"/>
          </a:xfrm>
          <a:custGeom>
            <a:avLst/>
            <a:gdLst/>
            <a:ahLst/>
            <a:cxnLst/>
            <a:rect r="r" b="b" t="t" l="l"/>
            <a:pathLst>
              <a:path h="4114800" w="4114800">
                <a:moveTo>
                  <a:pt x="0" y="0"/>
                </a:moveTo>
                <a:lnTo>
                  <a:pt x="4114800" y="0"/>
                </a:lnTo>
                <a:lnTo>
                  <a:pt x="4114800"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702233" y="-903796"/>
            <a:ext cx="3404467" cy="3404467"/>
          </a:xfrm>
          <a:custGeom>
            <a:avLst/>
            <a:gdLst/>
            <a:ahLst/>
            <a:cxnLst/>
            <a:rect r="r" b="b" t="t" l="l"/>
            <a:pathLst>
              <a:path h="3404467" w="3404467">
                <a:moveTo>
                  <a:pt x="0" y="0"/>
                </a:moveTo>
                <a:lnTo>
                  <a:pt x="3404466" y="0"/>
                </a:lnTo>
                <a:lnTo>
                  <a:pt x="3404466" y="3404466"/>
                </a:lnTo>
                <a:lnTo>
                  <a:pt x="0" y="340446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16230600" y="7200900"/>
            <a:ext cx="4114800" cy="4114800"/>
          </a:xfrm>
          <a:custGeom>
            <a:avLst/>
            <a:gdLst/>
            <a:ahLst/>
            <a:cxnLst/>
            <a:rect r="r" b="b" t="t" l="l"/>
            <a:pathLst>
              <a:path h="4114800" w="4114800">
                <a:moveTo>
                  <a:pt x="0" y="0"/>
                </a:moveTo>
                <a:lnTo>
                  <a:pt x="4114800" y="0"/>
                </a:lnTo>
                <a:lnTo>
                  <a:pt x="4114800"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0">
            <a:off x="16585767" y="7556067"/>
            <a:ext cx="3404467" cy="3404467"/>
          </a:xfrm>
          <a:custGeom>
            <a:avLst/>
            <a:gdLst/>
            <a:ahLst/>
            <a:cxnLst/>
            <a:rect r="r" b="b" t="t" l="l"/>
            <a:pathLst>
              <a:path h="3404467" w="3404467">
                <a:moveTo>
                  <a:pt x="0" y="0"/>
                </a:moveTo>
                <a:lnTo>
                  <a:pt x="3404466" y="0"/>
                </a:lnTo>
                <a:lnTo>
                  <a:pt x="3404466" y="3404466"/>
                </a:lnTo>
                <a:lnTo>
                  <a:pt x="0" y="340446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6" id="6"/>
          <p:cNvGrpSpPr/>
          <p:nvPr/>
        </p:nvGrpSpPr>
        <p:grpSpPr>
          <a:xfrm rot="0">
            <a:off x="12319137" y="9258300"/>
            <a:ext cx="3911463" cy="3911463"/>
            <a:chOff x="0" y="0"/>
            <a:chExt cx="812800" cy="812800"/>
          </a:xfrm>
        </p:grpSpPr>
        <p:sp>
          <p:nvSpPr>
            <p:cNvPr name="Freeform 7" id="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474646"/>
            </a:solidFill>
          </p:spPr>
        </p:sp>
        <p:sp>
          <p:nvSpPr>
            <p:cNvPr name="TextBox 8" id="8"/>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sp>
        <p:nvSpPr>
          <p:cNvPr name="Freeform 9" id="9"/>
          <p:cNvSpPr/>
          <p:nvPr/>
        </p:nvSpPr>
        <p:spPr>
          <a:xfrm flipH="false" flipV="false" rot="0">
            <a:off x="16998733" y="7969033"/>
            <a:ext cx="2578533" cy="2578533"/>
          </a:xfrm>
          <a:custGeom>
            <a:avLst/>
            <a:gdLst/>
            <a:ahLst/>
            <a:cxnLst/>
            <a:rect r="r" b="b" t="t" l="l"/>
            <a:pathLst>
              <a:path h="2578533" w="2578533">
                <a:moveTo>
                  <a:pt x="0" y="0"/>
                </a:moveTo>
                <a:lnTo>
                  <a:pt x="2578534" y="0"/>
                </a:lnTo>
                <a:lnTo>
                  <a:pt x="2578534" y="2578534"/>
                </a:lnTo>
                <a:lnTo>
                  <a:pt x="0" y="257853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0" id="10"/>
          <p:cNvSpPr/>
          <p:nvPr/>
        </p:nvSpPr>
        <p:spPr>
          <a:xfrm flipH="false" flipV="false" rot="0">
            <a:off x="-1289267" y="-490830"/>
            <a:ext cx="2578533" cy="2578533"/>
          </a:xfrm>
          <a:custGeom>
            <a:avLst/>
            <a:gdLst/>
            <a:ahLst/>
            <a:cxnLst/>
            <a:rect r="r" b="b" t="t" l="l"/>
            <a:pathLst>
              <a:path h="2578533" w="2578533">
                <a:moveTo>
                  <a:pt x="0" y="0"/>
                </a:moveTo>
                <a:lnTo>
                  <a:pt x="2578534" y="0"/>
                </a:lnTo>
                <a:lnTo>
                  <a:pt x="2578534" y="2578534"/>
                </a:lnTo>
                <a:lnTo>
                  <a:pt x="0" y="257853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11" id="11"/>
          <p:cNvGrpSpPr/>
          <p:nvPr/>
        </p:nvGrpSpPr>
        <p:grpSpPr>
          <a:xfrm rot="0">
            <a:off x="2129385" y="-2859528"/>
            <a:ext cx="3911463" cy="3911463"/>
            <a:chOff x="0" y="0"/>
            <a:chExt cx="812800" cy="812800"/>
          </a:xfrm>
        </p:grpSpPr>
        <p:sp>
          <p:nvSpPr>
            <p:cNvPr name="Freeform 12" id="12"/>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474646"/>
            </a:solidFill>
          </p:spPr>
        </p:sp>
        <p:sp>
          <p:nvSpPr>
            <p:cNvPr name="TextBox 13" id="13"/>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sp>
        <p:nvSpPr>
          <p:cNvPr name="TextBox 14" id="14"/>
          <p:cNvSpPr txBox="true"/>
          <p:nvPr/>
        </p:nvSpPr>
        <p:spPr>
          <a:xfrm rot="0">
            <a:off x="2984431" y="674612"/>
            <a:ext cx="12319137" cy="2105025"/>
          </a:xfrm>
          <a:prstGeom prst="rect">
            <a:avLst/>
          </a:prstGeom>
        </p:spPr>
        <p:txBody>
          <a:bodyPr anchor="t" rtlCol="false" tIns="0" lIns="0" bIns="0" rIns="0">
            <a:spAutoFit/>
          </a:bodyPr>
          <a:lstStyle/>
          <a:p>
            <a:pPr algn="ctr">
              <a:lnSpc>
                <a:spcPts val="8400"/>
              </a:lnSpc>
            </a:pPr>
            <a:r>
              <a:rPr lang="en-US" b="true" sz="6000">
                <a:solidFill>
                  <a:srgbClr val="000000"/>
                </a:solidFill>
                <a:latin typeface="Proxima Nova Bold"/>
                <a:ea typeface="Proxima Nova Bold"/>
                <a:cs typeface="Proxima Nova Bold"/>
                <a:sym typeface="Proxima Nova Bold"/>
              </a:rPr>
              <a:t>TEXT MINING AND NATURAL LANGUAGE PROCESSING(NLP)</a:t>
            </a:r>
          </a:p>
        </p:txBody>
      </p:sp>
      <p:sp>
        <p:nvSpPr>
          <p:cNvPr name="TextBox 15" id="15"/>
          <p:cNvSpPr txBox="true"/>
          <p:nvPr/>
        </p:nvSpPr>
        <p:spPr>
          <a:xfrm rot="0">
            <a:off x="1702233" y="3068779"/>
            <a:ext cx="15796035" cy="6719570"/>
          </a:xfrm>
          <a:prstGeom prst="rect">
            <a:avLst/>
          </a:prstGeom>
        </p:spPr>
        <p:txBody>
          <a:bodyPr anchor="t" rtlCol="false" tIns="0" lIns="0" bIns="0" rIns="0">
            <a:spAutoFit/>
          </a:bodyPr>
          <a:lstStyle/>
          <a:p>
            <a:pPr algn="l">
              <a:lnSpc>
                <a:spcPts val="4479"/>
              </a:lnSpc>
            </a:pPr>
            <a:r>
              <a:rPr lang="en-US" sz="3199" i="true" b="true">
                <a:solidFill>
                  <a:srgbClr val="000000"/>
                </a:solidFill>
                <a:latin typeface="Nunito Bold Italics"/>
                <a:ea typeface="Nunito Bold Italics"/>
                <a:cs typeface="Nunito Bold Italics"/>
                <a:sym typeface="Nunito Bold Italics"/>
              </a:rPr>
              <a:t>Text mining</a:t>
            </a:r>
            <a:r>
              <a:rPr lang="en-US" sz="3199" b="true">
                <a:solidFill>
                  <a:srgbClr val="000000"/>
                </a:solidFill>
                <a:latin typeface="Nunito Bold"/>
                <a:ea typeface="Nunito Bold"/>
                <a:cs typeface="Nunito Bold"/>
                <a:sym typeface="Nunito Bold"/>
              </a:rPr>
              <a:t> in data science is the process of applying algorithms from natural language processing (NLP), machine learning, and data mining to transform vast quantities of unstructured text into structured data, enabling the discovery of hidden patterns, trends, and meaningful information.</a:t>
            </a:r>
          </a:p>
          <a:p>
            <a:pPr algn="l">
              <a:lnSpc>
                <a:spcPts val="4479"/>
              </a:lnSpc>
            </a:pPr>
            <a:r>
              <a:rPr lang="en-US" sz="3199" b="true">
                <a:solidFill>
                  <a:srgbClr val="000000"/>
                </a:solidFill>
                <a:latin typeface="Nunito Bold"/>
                <a:ea typeface="Nunito Bold"/>
                <a:cs typeface="Nunito Bold"/>
                <a:sym typeface="Nunito Bold"/>
              </a:rPr>
              <a:t>     Example: </a:t>
            </a:r>
            <a:r>
              <a:rPr lang="en-US" sz="3199" i="true" b="true">
                <a:solidFill>
                  <a:srgbClr val="000000"/>
                </a:solidFill>
                <a:latin typeface="Nunito Bold Italics"/>
                <a:ea typeface="Nunito Bold Italics"/>
                <a:cs typeface="Nunito Bold Italics"/>
                <a:sym typeface="Nunito Bold Italics"/>
              </a:rPr>
              <a:t>Customer Feedback Analysis</a:t>
            </a:r>
          </a:p>
          <a:p>
            <a:pPr algn="l" marL="690877" indent="-345439" lvl="1">
              <a:lnSpc>
                <a:spcPts val="4479"/>
              </a:lnSpc>
              <a:buFont typeface="Arial"/>
              <a:buChar char="•"/>
            </a:pPr>
            <a:r>
              <a:rPr lang="en-US" b="true" sz="3199">
                <a:solidFill>
                  <a:srgbClr val="000000"/>
                </a:solidFill>
                <a:latin typeface="Nunito Bold"/>
                <a:ea typeface="Nunito Bold"/>
                <a:cs typeface="Nunito Bold"/>
                <a:sym typeface="Nunito Bold"/>
              </a:rPr>
              <a:t>A company collects 10,000 survey responses from customers.</a:t>
            </a:r>
          </a:p>
          <a:p>
            <a:pPr algn="l" marL="690877" indent="-345439" lvl="1">
              <a:lnSpc>
                <a:spcPts val="4479"/>
              </a:lnSpc>
              <a:buFont typeface="Arial"/>
              <a:buChar char="•"/>
            </a:pPr>
            <a:r>
              <a:rPr lang="en-US" b="true" sz="3199">
                <a:solidFill>
                  <a:srgbClr val="000000"/>
                </a:solidFill>
                <a:latin typeface="Nunito Bold"/>
                <a:ea typeface="Nunito Bold"/>
                <a:cs typeface="Nunito Bold"/>
                <a:sym typeface="Nunito Bold"/>
              </a:rPr>
              <a:t>Text Mining is used to:</a:t>
            </a:r>
          </a:p>
          <a:p>
            <a:pPr algn="l" marL="1381755" indent="-460585" lvl="2">
              <a:lnSpc>
                <a:spcPts val="4479"/>
              </a:lnSpc>
              <a:buFont typeface="Arial"/>
              <a:buChar char="⚬"/>
            </a:pPr>
            <a:r>
              <a:rPr lang="en-US" b="true" sz="3199">
                <a:solidFill>
                  <a:srgbClr val="000000"/>
                </a:solidFill>
                <a:latin typeface="Nunito Bold"/>
                <a:ea typeface="Nunito Bold"/>
                <a:cs typeface="Nunito Bold"/>
                <a:sym typeface="Nunito Bold"/>
              </a:rPr>
              <a:t>Count common words (e.g., “delivery”, “slow”, “fast”).</a:t>
            </a:r>
          </a:p>
          <a:p>
            <a:pPr algn="l" marL="1381755" indent="-460585" lvl="2">
              <a:lnSpc>
                <a:spcPts val="4479"/>
              </a:lnSpc>
              <a:buFont typeface="Arial"/>
              <a:buChar char="⚬"/>
            </a:pPr>
            <a:r>
              <a:rPr lang="en-US" b="true" sz="3199">
                <a:solidFill>
                  <a:srgbClr val="000000"/>
                </a:solidFill>
                <a:latin typeface="Nunito Bold"/>
                <a:ea typeface="Nunito Bold"/>
                <a:cs typeface="Nunito Bold"/>
                <a:sym typeface="Nunito Bold"/>
              </a:rPr>
              <a:t>Find topics (e.g., shipping issues, product quality).</a:t>
            </a:r>
          </a:p>
          <a:p>
            <a:pPr algn="l" marL="1381755" indent="-460585" lvl="2">
              <a:lnSpc>
                <a:spcPts val="4479"/>
              </a:lnSpc>
              <a:buFont typeface="Arial"/>
              <a:buChar char="⚬"/>
            </a:pPr>
            <a:r>
              <a:rPr lang="en-US" b="true" sz="3199">
                <a:solidFill>
                  <a:srgbClr val="000000"/>
                </a:solidFill>
                <a:latin typeface="Nunito Bold"/>
                <a:ea typeface="Nunito Bold"/>
                <a:cs typeface="Nunito Bold"/>
                <a:sym typeface="Nunito Bold"/>
              </a:rPr>
              <a:t>Detect overall trends (e.g., 65% complain about late delivery).</a:t>
            </a:r>
          </a:p>
          <a:p>
            <a:pPr algn="l" marL="690877" indent="-345439" lvl="1">
              <a:lnSpc>
                <a:spcPts val="4479"/>
              </a:lnSpc>
              <a:buFont typeface="Arial"/>
              <a:buChar char="•"/>
            </a:pPr>
            <a:r>
              <a:rPr lang="en-US" b="true" sz="3199">
                <a:solidFill>
                  <a:srgbClr val="000000"/>
                </a:solidFill>
                <a:latin typeface="Nunito Bold"/>
                <a:ea typeface="Nunito Bold"/>
                <a:cs typeface="Nunito Bold"/>
                <a:sym typeface="Nunito Bold"/>
              </a:rPr>
              <a:t> </a:t>
            </a:r>
            <a:r>
              <a:rPr lang="en-US" b="true" sz="3199">
                <a:solidFill>
                  <a:srgbClr val="000000"/>
                </a:solidFill>
                <a:latin typeface="Nunito Bold"/>
                <a:ea typeface="Nunito Bold"/>
                <a:cs typeface="Nunito Bold"/>
                <a:sym typeface="Nunito Bold"/>
              </a:rPr>
              <a:t>Output: Insights like “Most customers are unhappy with delivery speed.”</a:t>
            </a:r>
          </a:p>
          <a:p>
            <a:pPr algn="l">
              <a:lnSpc>
                <a:spcPts val="4479"/>
              </a:lnSpc>
            </a:pPr>
          </a:p>
        </p:txBody>
      </p:sp>
    </p:spTree>
  </p:cSld>
  <p:clrMapOvr>
    <a:masterClrMapping/>
  </p:clrMapOvr>
</p:sld>
</file>

<file path=ppt/slides/slide21.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A6A6A6">
                <a:alpha val="100000"/>
              </a:srgbClr>
            </a:gs>
            <a:gs pos="100000">
              <a:srgbClr val="FFFFFF">
                <a:alpha val="100000"/>
              </a:srgbClr>
            </a:gs>
          </a:gsLst>
          <a:lin ang="0"/>
        </a:gradFill>
      </p:bgPr>
    </p:bg>
    <p:spTree>
      <p:nvGrpSpPr>
        <p:cNvPr id="1" name=""/>
        <p:cNvGrpSpPr/>
        <p:nvPr/>
      </p:nvGrpSpPr>
      <p:grpSpPr>
        <a:xfrm>
          <a:off x="0" y="0"/>
          <a:ext cx="0" cy="0"/>
          <a:chOff x="0" y="0"/>
          <a:chExt cx="0" cy="0"/>
        </a:xfrm>
      </p:grpSpPr>
      <p:sp>
        <p:nvSpPr>
          <p:cNvPr name="Freeform 2" id="2"/>
          <p:cNvSpPr/>
          <p:nvPr/>
        </p:nvSpPr>
        <p:spPr>
          <a:xfrm flipH="false" flipV="false" rot="0">
            <a:off x="-2057400" y="-1258963"/>
            <a:ext cx="4114800" cy="4114800"/>
          </a:xfrm>
          <a:custGeom>
            <a:avLst/>
            <a:gdLst/>
            <a:ahLst/>
            <a:cxnLst/>
            <a:rect r="r" b="b" t="t" l="l"/>
            <a:pathLst>
              <a:path h="4114800" w="4114800">
                <a:moveTo>
                  <a:pt x="0" y="0"/>
                </a:moveTo>
                <a:lnTo>
                  <a:pt x="4114800" y="0"/>
                </a:lnTo>
                <a:lnTo>
                  <a:pt x="4114800"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702233" y="-903796"/>
            <a:ext cx="3404467" cy="3404467"/>
          </a:xfrm>
          <a:custGeom>
            <a:avLst/>
            <a:gdLst/>
            <a:ahLst/>
            <a:cxnLst/>
            <a:rect r="r" b="b" t="t" l="l"/>
            <a:pathLst>
              <a:path h="3404467" w="3404467">
                <a:moveTo>
                  <a:pt x="0" y="0"/>
                </a:moveTo>
                <a:lnTo>
                  <a:pt x="3404466" y="0"/>
                </a:lnTo>
                <a:lnTo>
                  <a:pt x="3404466" y="3404466"/>
                </a:lnTo>
                <a:lnTo>
                  <a:pt x="0" y="340446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16230600" y="7200900"/>
            <a:ext cx="4114800" cy="4114800"/>
          </a:xfrm>
          <a:custGeom>
            <a:avLst/>
            <a:gdLst/>
            <a:ahLst/>
            <a:cxnLst/>
            <a:rect r="r" b="b" t="t" l="l"/>
            <a:pathLst>
              <a:path h="4114800" w="4114800">
                <a:moveTo>
                  <a:pt x="0" y="0"/>
                </a:moveTo>
                <a:lnTo>
                  <a:pt x="4114800" y="0"/>
                </a:lnTo>
                <a:lnTo>
                  <a:pt x="4114800"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0">
            <a:off x="16585767" y="7556067"/>
            <a:ext cx="3404467" cy="3404467"/>
          </a:xfrm>
          <a:custGeom>
            <a:avLst/>
            <a:gdLst/>
            <a:ahLst/>
            <a:cxnLst/>
            <a:rect r="r" b="b" t="t" l="l"/>
            <a:pathLst>
              <a:path h="3404467" w="3404467">
                <a:moveTo>
                  <a:pt x="0" y="0"/>
                </a:moveTo>
                <a:lnTo>
                  <a:pt x="3404466" y="0"/>
                </a:lnTo>
                <a:lnTo>
                  <a:pt x="3404466" y="3404466"/>
                </a:lnTo>
                <a:lnTo>
                  <a:pt x="0" y="340446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6" id="6"/>
          <p:cNvGrpSpPr/>
          <p:nvPr/>
        </p:nvGrpSpPr>
        <p:grpSpPr>
          <a:xfrm rot="0">
            <a:off x="12319137" y="9258300"/>
            <a:ext cx="3911463" cy="3911463"/>
            <a:chOff x="0" y="0"/>
            <a:chExt cx="812800" cy="812800"/>
          </a:xfrm>
        </p:grpSpPr>
        <p:sp>
          <p:nvSpPr>
            <p:cNvPr name="Freeform 7" id="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474646"/>
            </a:solidFill>
          </p:spPr>
        </p:sp>
        <p:sp>
          <p:nvSpPr>
            <p:cNvPr name="TextBox 8" id="8"/>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sp>
        <p:nvSpPr>
          <p:cNvPr name="Freeform 9" id="9"/>
          <p:cNvSpPr/>
          <p:nvPr/>
        </p:nvSpPr>
        <p:spPr>
          <a:xfrm flipH="false" flipV="false" rot="0">
            <a:off x="16998733" y="7969033"/>
            <a:ext cx="2578533" cy="2578533"/>
          </a:xfrm>
          <a:custGeom>
            <a:avLst/>
            <a:gdLst/>
            <a:ahLst/>
            <a:cxnLst/>
            <a:rect r="r" b="b" t="t" l="l"/>
            <a:pathLst>
              <a:path h="2578533" w="2578533">
                <a:moveTo>
                  <a:pt x="0" y="0"/>
                </a:moveTo>
                <a:lnTo>
                  <a:pt x="2578534" y="0"/>
                </a:lnTo>
                <a:lnTo>
                  <a:pt x="2578534" y="2578534"/>
                </a:lnTo>
                <a:lnTo>
                  <a:pt x="0" y="257853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0" id="10"/>
          <p:cNvSpPr/>
          <p:nvPr/>
        </p:nvSpPr>
        <p:spPr>
          <a:xfrm flipH="false" flipV="false" rot="0">
            <a:off x="-1289267" y="-490830"/>
            <a:ext cx="2578533" cy="2578533"/>
          </a:xfrm>
          <a:custGeom>
            <a:avLst/>
            <a:gdLst/>
            <a:ahLst/>
            <a:cxnLst/>
            <a:rect r="r" b="b" t="t" l="l"/>
            <a:pathLst>
              <a:path h="2578533" w="2578533">
                <a:moveTo>
                  <a:pt x="0" y="0"/>
                </a:moveTo>
                <a:lnTo>
                  <a:pt x="2578534" y="0"/>
                </a:lnTo>
                <a:lnTo>
                  <a:pt x="2578534" y="2578534"/>
                </a:lnTo>
                <a:lnTo>
                  <a:pt x="0" y="257853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11" id="11"/>
          <p:cNvGrpSpPr/>
          <p:nvPr/>
        </p:nvGrpSpPr>
        <p:grpSpPr>
          <a:xfrm rot="0">
            <a:off x="2129385" y="-2859528"/>
            <a:ext cx="3911463" cy="3911463"/>
            <a:chOff x="0" y="0"/>
            <a:chExt cx="812800" cy="812800"/>
          </a:xfrm>
        </p:grpSpPr>
        <p:sp>
          <p:nvSpPr>
            <p:cNvPr name="Freeform 12" id="12"/>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474646"/>
            </a:solidFill>
          </p:spPr>
        </p:sp>
        <p:sp>
          <p:nvSpPr>
            <p:cNvPr name="TextBox 13" id="13"/>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sp>
        <p:nvSpPr>
          <p:cNvPr name="Freeform 14" id="14"/>
          <p:cNvSpPr/>
          <p:nvPr/>
        </p:nvSpPr>
        <p:spPr>
          <a:xfrm flipH="false" flipV="false" rot="0">
            <a:off x="1702233" y="1028700"/>
            <a:ext cx="15243144" cy="10162096"/>
          </a:xfrm>
          <a:custGeom>
            <a:avLst/>
            <a:gdLst/>
            <a:ahLst/>
            <a:cxnLst/>
            <a:rect r="r" b="b" t="t" l="l"/>
            <a:pathLst>
              <a:path h="10162096" w="15243144">
                <a:moveTo>
                  <a:pt x="0" y="0"/>
                </a:moveTo>
                <a:lnTo>
                  <a:pt x="15243145" y="0"/>
                </a:lnTo>
                <a:lnTo>
                  <a:pt x="15243145" y="10162096"/>
                </a:lnTo>
                <a:lnTo>
                  <a:pt x="0" y="10162096"/>
                </a:lnTo>
                <a:lnTo>
                  <a:pt x="0" y="0"/>
                </a:lnTo>
                <a:close/>
              </a:path>
            </a:pathLst>
          </a:custGeom>
          <a:blipFill>
            <a:blip r:embed="rId4"/>
            <a:stretch>
              <a:fillRect l="0" t="0" r="0" b="0"/>
            </a:stretch>
          </a:blipFill>
        </p:spPr>
      </p:sp>
      <p:sp>
        <p:nvSpPr>
          <p:cNvPr name="TextBox 15" id="15"/>
          <p:cNvSpPr txBox="true"/>
          <p:nvPr/>
        </p:nvSpPr>
        <p:spPr>
          <a:xfrm rot="0">
            <a:off x="3128490" y="13710"/>
            <a:ext cx="12319137" cy="1038225"/>
          </a:xfrm>
          <a:prstGeom prst="rect">
            <a:avLst/>
          </a:prstGeom>
        </p:spPr>
        <p:txBody>
          <a:bodyPr anchor="t" rtlCol="false" tIns="0" lIns="0" bIns="0" rIns="0">
            <a:spAutoFit/>
          </a:bodyPr>
          <a:lstStyle/>
          <a:p>
            <a:pPr algn="ctr">
              <a:lnSpc>
                <a:spcPts val="8400"/>
              </a:lnSpc>
            </a:pPr>
            <a:r>
              <a:rPr lang="en-US" b="true" sz="6000">
                <a:solidFill>
                  <a:srgbClr val="000000"/>
                </a:solidFill>
                <a:latin typeface="Proxima Nova Bold"/>
                <a:ea typeface="Proxima Nova Bold"/>
                <a:cs typeface="Proxima Nova Bold"/>
                <a:sym typeface="Proxima Nova Bold"/>
              </a:rPr>
              <a:t>EXAMPLE</a:t>
            </a:r>
          </a:p>
        </p:txBody>
      </p:sp>
    </p:spTree>
  </p:cSld>
  <p:clrMapOvr>
    <a:masterClrMapping/>
  </p:clrMapOvr>
</p:sld>
</file>

<file path=ppt/slides/slide22.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A6A6A6">
                <a:alpha val="100000"/>
              </a:srgbClr>
            </a:gs>
            <a:gs pos="100000">
              <a:srgbClr val="FFFFFF">
                <a:alpha val="100000"/>
              </a:srgbClr>
            </a:gs>
          </a:gsLst>
          <a:lin ang="0"/>
        </a:gradFill>
      </p:bgPr>
    </p:bg>
    <p:spTree>
      <p:nvGrpSpPr>
        <p:cNvPr id="1" name=""/>
        <p:cNvGrpSpPr/>
        <p:nvPr/>
      </p:nvGrpSpPr>
      <p:grpSpPr>
        <a:xfrm>
          <a:off x="0" y="0"/>
          <a:ext cx="0" cy="0"/>
          <a:chOff x="0" y="0"/>
          <a:chExt cx="0" cy="0"/>
        </a:xfrm>
      </p:grpSpPr>
      <p:sp>
        <p:nvSpPr>
          <p:cNvPr name="Freeform 2" id="2"/>
          <p:cNvSpPr/>
          <p:nvPr/>
        </p:nvSpPr>
        <p:spPr>
          <a:xfrm flipH="false" flipV="false" rot="0">
            <a:off x="-2057400" y="-1258963"/>
            <a:ext cx="4114800" cy="4114800"/>
          </a:xfrm>
          <a:custGeom>
            <a:avLst/>
            <a:gdLst/>
            <a:ahLst/>
            <a:cxnLst/>
            <a:rect r="r" b="b" t="t" l="l"/>
            <a:pathLst>
              <a:path h="4114800" w="4114800">
                <a:moveTo>
                  <a:pt x="0" y="0"/>
                </a:moveTo>
                <a:lnTo>
                  <a:pt x="4114800" y="0"/>
                </a:lnTo>
                <a:lnTo>
                  <a:pt x="4114800"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702233" y="-903796"/>
            <a:ext cx="3404467" cy="3404467"/>
          </a:xfrm>
          <a:custGeom>
            <a:avLst/>
            <a:gdLst/>
            <a:ahLst/>
            <a:cxnLst/>
            <a:rect r="r" b="b" t="t" l="l"/>
            <a:pathLst>
              <a:path h="3404467" w="3404467">
                <a:moveTo>
                  <a:pt x="0" y="0"/>
                </a:moveTo>
                <a:lnTo>
                  <a:pt x="3404466" y="0"/>
                </a:lnTo>
                <a:lnTo>
                  <a:pt x="3404466" y="3404466"/>
                </a:lnTo>
                <a:lnTo>
                  <a:pt x="0" y="340446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16230600" y="7200900"/>
            <a:ext cx="4114800" cy="4114800"/>
          </a:xfrm>
          <a:custGeom>
            <a:avLst/>
            <a:gdLst/>
            <a:ahLst/>
            <a:cxnLst/>
            <a:rect r="r" b="b" t="t" l="l"/>
            <a:pathLst>
              <a:path h="4114800" w="4114800">
                <a:moveTo>
                  <a:pt x="0" y="0"/>
                </a:moveTo>
                <a:lnTo>
                  <a:pt x="4114800" y="0"/>
                </a:lnTo>
                <a:lnTo>
                  <a:pt x="4114800"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0">
            <a:off x="16585767" y="7556067"/>
            <a:ext cx="3404467" cy="3404467"/>
          </a:xfrm>
          <a:custGeom>
            <a:avLst/>
            <a:gdLst/>
            <a:ahLst/>
            <a:cxnLst/>
            <a:rect r="r" b="b" t="t" l="l"/>
            <a:pathLst>
              <a:path h="3404467" w="3404467">
                <a:moveTo>
                  <a:pt x="0" y="0"/>
                </a:moveTo>
                <a:lnTo>
                  <a:pt x="3404466" y="0"/>
                </a:lnTo>
                <a:lnTo>
                  <a:pt x="3404466" y="3404466"/>
                </a:lnTo>
                <a:lnTo>
                  <a:pt x="0" y="340446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6" id="6"/>
          <p:cNvGrpSpPr/>
          <p:nvPr/>
        </p:nvGrpSpPr>
        <p:grpSpPr>
          <a:xfrm rot="0">
            <a:off x="12319137" y="9258300"/>
            <a:ext cx="3911463" cy="3911463"/>
            <a:chOff x="0" y="0"/>
            <a:chExt cx="812800" cy="812800"/>
          </a:xfrm>
        </p:grpSpPr>
        <p:sp>
          <p:nvSpPr>
            <p:cNvPr name="Freeform 7" id="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474646"/>
            </a:solidFill>
          </p:spPr>
        </p:sp>
        <p:sp>
          <p:nvSpPr>
            <p:cNvPr name="TextBox 8" id="8"/>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sp>
        <p:nvSpPr>
          <p:cNvPr name="Freeform 9" id="9"/>
          <p:cNvSpPr/>
          <p:nvPr/>
        </p:nvSpPr>
        <p:spPr>
          <a:xfrm flipH="false" flipV="false" rot="0">
            <a:off x="16998733" y="7969033"/>
            <a:ext cx="2578533" cy="2578533"/>
          </a:xfrm>
          <a:custGeom>
            <a:avLst/>
            <a:gdLst/>
            <a:ahLst/>
            <a:cxnLst/>
            <a:rect r="r" b="b" t="t" l="l"/>
            <a:pathLst>
              <a:path h="2578533" w="2578533">
                <a:moveTo>
                  <a:pt x="0" y="0"/>
                </a:moveTo>
                <a:lnTo>
                  <a:pt x="2578534" y="0"/>
                </a:lnTo>
                <a:lnTo>
                  <a:pt x="2578534" y="2578534"/>
                </a:lnTo>
                <a:lnTo>
                  <a:pt x="0" y="257853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0" id="10"/>
          <p:cNvSpPr/>
          <p:nvPr/>
        </p:nvSpPr>
        <p:spPr>
          <a:xfrm flipH="false" flipV="false" rot="0">
            <a:off x="-1289267" y="-490830"/>
            <a:ext cx="2578533" cy="2578533"/>
          </a:xfrm>
          <a:custGeom>
            <a:avLst/>
            <a:gdLst/>
            <a:ahLst/>
            <a:cxnLst/>
            <a:rect r="r" b="b" t="t" l="l"/>
            <a:pathLst>
              <a:path h="2578533" w="2578533">
                <a:moveTo>
                  <a:pt x="0" y="0"/>
                </a:moveTo>
                <a:lnTo>
                  <a:pt x="2578534" y="0"/>
                </a:lnTo>
                <a:lnTo>
                  <a:pt x="2578534" y="2578534"/>
                </a:lnTo>
                <a:lnTo>
                  <a:pt x="0" y="257853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11" id="11"/>
          <p:cNvGrpSpPr/>
          <p:nvPr/>
        </p:nvGrpSpPr>
        <p:grpSpPr>
          <a:xfrm rot="0">
            <a:off x="2129385" y="-2859528"/>
            <a:ext cx="3911463" cy="3911463"/>
            <a:chOff x="0" y="0"/>
            <a:chExt cx="812800" cy="812800"/>
          </a:xfrm>
        </p:grpSpPr>
        <p:sp>
          <p:nvSpPr>
            <p:cNvPr name="Freeform 12" id="12"/>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474646"/>
            </a:solidFill>
          </p:spPr>
        </p:sp>
        <p:sp>
          <p:nvSpPr>
            <p:cNvPr name="TextBox 13" id="13"/>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sp>
        <p:nvSpPr>
          <p:cNvPr name="TextBox 14" id="14"/>
          <p:cNvSpPr txBox="true"/>
          <p:nvPr/>
        </p:nvSpPr>
        <p:spPr>
          <a:xfrm rot="0">
            <a:off x="2057400" y="1316179"/>
            <a:ext cx="9614099" cy="771525"/>
          </a:xfrm>
          <a:prstGeom prst="rect">
            <a:avLst/>
          </a:prstGeom>
        </p:spPr>
        <p:txBody>
          <a:bodyPr anchor="t" rtlCol="false" tIns="0" lIns="0" bIns="0" rIns="0">
            <a:spAutoFit/>
          </a:bodyPr>
          <a:lstStyle/>
          <a:p>
            <a:pPr algn="ctr">
              <a:lnSpc>
                <a:spcPts val="6300"/>
              </a:lnSpc>
            </a:pPr>
            <a:r>
              <a:rPr lang="en-US" sz="4500" b="true">
                <a:solidFill>
                  <a:srgbClr val="000000"/>
                </a:solidFill>
                <a:latin typeface="Canva Sans Bold"/>
                <a:ea typeface="Canva Sans Bold"/>
                <a:cs typeface="Canva Sans Bold"/>
                <a:sym typeface="Canva Sans Bold"/>
              </a:rPr>
              <a:t>Natural Language Processing(NLP)</a:t>
            </a:r>
          </a:p>
        </p:txBody>
      </p:sp>
      <p:sp>
        <p:nvSpPr>
          <p:cNvPr name="TextBox 15" id="15"/>
          <p:cNvSpPr txBox="true"/>
          <p:nvPr/>
        </p:nvSpPr>
        <p:spPr>
          <a:xfrm rot="0">
            <a:off x="934405" y="2373454"/>
            <a:ext cx="16324895" cy="6581140"/>
          </a:xfrm>
          <a:prstGeom prst="rect">
            <a:avLst/>
          </a:prstGeom>
        </p:spPr>
        <p:txBody>
          <a:bodyPr anchor="t" rtlCol="false" tIns="0" lIns="0" bIns="0" rIns="0">
            <a:spAutoFit/>
          </a:bodyPr>
          <a:lstStyle/>
          <a:p>
            <a:pPr algn="l">
              <a:lnSpc>
                <a:spcPts val="4759"/>
              </a:lnSpc>
            </a:pPr>
            <a:r>
              <a:rPr lang="en-US" b="true" sz="3399" i="true">
                <a:solidFill>
                  <a:srgbClr val="000000"/>
                </a:solidFill>
                <a:latin typeface="Canva Sans Bold Italics"/>
                <a:ea typeface="Canva Sans Bold Italics"/>
                <a:cs typeface="Canva Sans Bold Italics"/>
                <a:sym typeface="Canva Sans Bold Italics"/>
              </a:rPr>
              <a:t>Natural Language Processing (NLP)</a:t>
            </a:r>
            <a:r>
              <a:rPr lang="en-US" b="true" sz="3399">
                <a:solidFill>
                  <a:srgbClr val="000000"/>
                </a:solidFill>
                <a:latin typeface="Canva Sans Bold"/>
                <a:ea typeface="Canva Sans Bold"/>
                <a:cs typeface="Canva Sans Bold"/>
                <a:sym typeface="Canva Sans Bold"/>
              </a:rPr>
              <a:t> is the application of Artificial Intelligence (AI) and machine learning to enable computers to interpret, analyze, and generate human language, extracting meaningful insights from large volumes of text and voice data.</a:t>
            </a:r>
          </a:p>
          <a:p>
            <a:pPr algn="l">
              <a:lnSpc>
                <a:spcPts val="4759"/>
              </a:lnSpc>
            </a:pPr>
            <a:r>
              <a:rPr lang="en-US" b="true" sz="3399">
                <a:solidFill>
                  <a:srgbClr val="000000"/>
                </a:solidFill>
                <a:latin typeface="Canva Sans Bold"/>
                <a:ea typeface="Canva Sans Bold"/>
                <a:cs typeface="Canva Sans Bold"/>
                <a:sym typeface="Canva Sans Bold"/>
              </a:rPr>
              <a:t>     Example: </a:t>
            </a:r>
            <a:r>
              <a:rPr lang="en-US" b="true" sz="3399" i="true">
                <a:solidFill>
                  <a:srgbClr val="000000"/>
                </a:solidFill>
                <a:latin typeface="Canva Sans Bold Italics"/>
                <a:ea typeface="Canva Sans Bold Italics"/>
                <a:cs typeface="Canva Sans Bold Italics"/>
                <a:sym typeface="Canva Sans Bold Italics"/>
              </a:rPr>
              <a:t>Google Translate</a:t>
            </a:r>
          </a:p>
          <a:p>
            <a:pPr algn="l" marL="734059" indent="-367030" lvl="1">
              <a:lnSpc>
                <a:spcPts val="4759"/>
              </a:lnSpc>
              <a:buFont typeface="Arial"/>
              <a:buChar char="•"/>
            </a:pPr>
            <a:r>
              <a:rPr lang="en-US" b="true" sz="3399">
                <a:solidFill>
                  <a:srgbClr val="000000"/>
                </a:solidFill>
                <a:latin typeface="Canva Sans Bold"/>
                <a:ea typeface="Canva Sans Bold"/>
                <a:cs typeface="Canva Sans Bold"/>
                <a:sym typeface="Canva Sans Bold"/>
              </a:rPr>
              <a:t>User types: “Good morning” in English.</a:t>
            </a:r>
          </a:p>
          <a:p>
            <a:pPr algn="l" marL="734059" indent="-367030" lvl="1">
              <a:lnSpc>
                <a:spcPts val="4759"/>
              </a:lnSpc>
              <a:buFont typeface="Arial"/>
              <a:buChar char="•"/>
            </a:pPr>
            <a:r>
              <a:rPr lang="en-US" b="true" sz="3399">
                <a:solidFill>
                  <a:srgbClr val="000000"/>
                </a:solidFill>
                <a:latin typeface="Canva Sans Bold"/>
                <a:ea typeface="Canva Sans Bold"/>
                <a:cs typeface="Canva Sans Bold"/>
                <a:sym typeface="Canva Sans Bold"/>
              </a:rPr>
              <a:t>NLP breaks it into tokens → [“Good”, “morning”].</a:t>
            </a:r>
          </a:p>
          <a:p>
            <a:pPr algn="l" marL="734059" indent="-367030" lvl="1">
              <a:lnSpc>
                <a:spcPts val="4759"/>
              </a:lnSpc>
              <a:buFont typeface="Arial"/>
              <a:buChar char="•"/>
            </a:pPr>
            <a:r>
              <a:rPr lang="en-US" b="true" sz="3399">
                <a:solidFill>
                  <a:srgbClr val="000000"/>
                </a:solidFill>
                <a:latin typeface="Canva Sans Bold"/>
                <a:ea typeface="Canva Sans Bold"/>
                <a:cs typeface="Canva Sans Bold"/>
                <a:sym typeface="Canva Sans Bold"/>
              </a:rPr>
              <a:t>NLP model understands context and grammar.</a:t>
            </a:r>
          </a:p>
          <a:p>
            <a:pPr algn="l" marL="734059" indent="-367030" lvl="1">
              <a:lnSpc>
                <a:spcPts val="4759"/>
              </a:lnSpc>
              <a:buFont typeface="Arial"/>
              <a:buChar char="•"/>
            </a:pPr>
            <a:r>
              <a:rPr lang="en-US" b="true" sz="3399">
                <a:solidFill>
                  <a:srgbClr val="000000"/>
                </a:solidFill>
                <a:latin typeface="Canva Sans Bold"/>
                <a:ea typeface="Canva Sans Bold"/>
                <a:cs typeface="Canva Sans Bold"/>
                <a:sym typeface="Canva Sans Bold"/>
              </a:rPr>
              <a:t>Translates into Spanish → “Buenos días”.</a:t>
            </a:r>
          </a:p>
          <a:p>
            <a:pPr algn="l" marL="734059" indent="-367030" lvl="1">
              <a:lnSpc>
                <a:spcPts val="4759"/>
              </a:lnSpc>
              <a:buFont typeface="Arial"/>
              <a:buChar char="•"/>
            </a:pPr>
            <a:r>
              <a:rPr lang="en-US" b="true" sz="3399">
                <a:solidFill>
                  <a:srgbClr val="000000"/>
                </a:solidFill>
                <a:latin typeface="Canva Sans Bold"/>
                <a:ea typeface="Canva Sans Bold"/>
                <a:cs typeface="Canva Sans Bold"/>
                <a:sym typeface="Canva Sans Bold"/>
              </a:rPr>
              <a:t>Output: Machine understands meaning and produces natural language.</a:t>
            </a:r>
          </a:p>
          <a:p>
            <a:pPr algn="l">
              <a:lnSpc>
                <a:spcPts val="4759"/>
              </a:lnSpc>
            </a:pPr>
          </a:p>
        </p:txBody>
      </p:sp>
    </p:spTree>
  </p:cSld>
  <p:clrMapOvr>
    <a:masterClrMapping/>
  </p:clrMapOvr>
</p:sld>
</file>

<file path=ppt/slides/slide23.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A6A6A6">
                <a:alpha val="100000"/>
              </a:srgbClr>
            </a:gs>
            <a:gs pos="100000">
              <a:srgbClr val="FFFFFF">
                <a:alpha val="100000"/>
              </a:srgbClr>
            </a:gs>
          </a:gsLst>
          <a:lin ang="0"/>
        </a:gradFill>
      </p:bgPr>
    </p:bg>
    <p:spTree>
      <p:nvGrpSpPr>
        <p:cNvPr id="1" name=""/>
        <p:cNvGrpSpPr/>
        <p:nvPr/>
      </p:nvGrpSpPr>
      <p:grpSpPr>
        <a:xfrm>
          <a:off x="0" y="0"/>
          <a:ext cx="0" cy="0"/>
          <a:chOff x="0" y="0"/>
          <a:chExt cx="0" cy="0"/>
        </a:xfrm>
      </p:grpSpPr>
      <p:sp>
        <p:nvSpPr>
          <p:cNvPr name="Freeform 2" id="2"/>
          <p:cNvSpPr/>
          <p:nvPr/>
        </p:nvSpPr>
        <p:spPr>
          <a:xfrm flipH="false" flipV="false" rot="0">
            <a:off x="-2057400" y="-1258963"/>
            <a:ext cx="4114800" cy="4114800"/>
          </a:xfrm>
          <a:custGeom>
            <a:avLst/>
            <a:gdLst/>
            <a:ahLst/>
            <a:cxnLst/>
            <a:rect r="r" b="b" t="t" l="l"/>
            <a:pathLst>
              <a:path h="4114800" w="4114800">
                <a:moveTo>
                  <a:pt x="0" y="0"/>
                </a:moveTo>
                <a:lnTo>
                  <a:pt x="4114800" y="0"/>
                </a:lnTo>
                <a:lnTo>
                  <a:pt x="4114800"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702233" y="-903796"/>
            <a:ext cx="3404467" cy="3404467"/>
          </a:xfrm>
          <a:custGeom>
            <a:avLst/>
            <a:gdLst/>
            <a:ahLst/>
            <a:cxnLst/>
            <a:rect r="r" b="b" t="t" l="l"/>
            <a:pathLst>
              <a:path h="3404467" w="3404467">
                <a:moveTo>
                  <a:pt x="0" y="0"/>
                </a:moveTo>
                <a:lnTo>
                  <a:pt x="3404466" y="0"/>
                </a:lnTo>
                <a:lnTo>
                  <a:pt x="3404466" y="3404466"/>
                </a:lnTo>
                <a:lnTo>
                  <a:pt x="0" y="340446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16230600" y="7200900"/>
            <a:ext cx="4114800" cy="4114800"/>
          </a:xfrm>
          <a:custGeom>
            <a:avLst/>
            <a:gdLst/>
            <a:ahLst/>
            <a:cxnLst/>
            <a:rect r="r" b="b" t="t" l="l"/>
            <a:pathLst>
              <a:path h="4114800" w="4114800">
                <a:moveTo>
                  <a:pt x="0" y="0"/>
                </a:moveTo>
                <a:lnTo>
                  <a:pt x="4114800" y="0"/>
                </a:lnTo>
                <a:lnTo>
                  <a:pt x="4114800"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0">
            <a:off x="16585767" y="7556067"/>
            <a:ext cx="3404467" cy="3404467"/>
          </a:xfrm>
          <a:custGeom>
            <a:avLst/>
            <a:gdLst/>
            <a:ahLst/>
            <a:cxnLst/>
            <a:rect r="r" b="b" t="t" l="l"/>
            <a:pathLst>
              <a:path h="3404467" w="3404467">
                <a:moveTo>
                  <a:pt x="0" y="0"/>
                </a:moveTo>
                <a:lnTo>
                  <a:pt x="3404466" y="0"/>
                </a:lnTo>
                <a:lnTo>
                  <a:pt x="3404466" y="3404466"/>
                </a:lnTo>
                <a:lnTo>
                  <a:pt x="0" y="340446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6" id="6"/>
          <p:cNvGrpSpPr/>
          <p:nvPr/>
        </p:nvGrpSpPr>
        <p:grpSpPr>
          <a:xfrm rot="0">
            <a:off x="12319137" y="9258300"/>
            <a:ext cx="3911463" cy="3911463"/>
            <a:chOff x="0" y="0"/>
            <a:chExt cx="812800" cy="812800"/>
          </a:xfrm>
        </p:grpSpPr>
        <p:sp>
          <p:nvSpPr>
            <p:cNvPr name="Freeform 7" id="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474646"/>
            </a:solidFill>
          </p:spPr>
        </p:sp>
        <p:sp>
          <p:nvSpPr>
            <p:cNvPr name="TextBox 8" id="8"/>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sp>
        <p:nvSpPr>
          <p:cNvPr name="Freeform 9" id="9"/>
          <p:cNvSpPr/>
          <p:nvPr/>
        </p:nvSpPr>
        <p:spPr>
          <a:xfrm flipH="false" flipV="false" rot="0">
            <a:off x="16998733" y="7969033"/>
            <a:ext cx="2578533" cy="2578533"/>
          </a:xfrm>
          <a:custGeom>
            <a:avLst/>
            <a:gdLst/>
            <a:ahLst/>
            <a:cxnLst/>
            <a:rect r="r" b="b" t="t" l="l"/>
            <a:pathLst>
              <a:path h="2578533" w="2578533">
                <a:moveTo>
                  <a:pt x="0" y="0"/>
                </a:moveTo>
                <a:lnTo>
                  <a:pt x="2578534" y="0"/>
                </a:lnTo>
                <a:lnTo>
                  <a:pt x="2578534" y="2578534"/>
                </a:lnTo>
                <a:lnTo>
                  <a:pt x="0" y="257853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0" id="10"/>
          <p:cNvSpPr/>
          <p:nvPr/>
        </p:nvSpPr>
        <p:spPr>
          <a:xfrm flipH="false" flipV="false" rot="0">
            <a:off x="-1289267" y="-490830"/>
            <a:ext cx="2578533" cy="2578533"/>
          </a:xfrm>
          <a:custGeom>
            <a:avLst/>
            <a:gdLst/>
            <a:ahLst/>
            <a:cxnLst/>
            <a:rect r="r" b="b" t="t" l="l"/>
            <a:pathLst>
              <a:path h="2578533" w="2578533">
                <a:moveTo>
                  <a:pt x="0" y="0"/>
                </a:moveTo>
                <a:lnTo>
                  <a:pt x="2578534" y="0"/>
                </a:lnTo>
                <a:lnTo>
                  <a:pt x="2578534" y="2578534"/>
                </a:lnTo>
                <a:lnTo>
                  <a:pt x="0" y="257853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11" id="11"/>
          <p:cNvGrpSpPr/>
          <p:nvPr/>
        </p:nvGrpSpPr>
        <p:grpSpPr>
          <a:xfrm rot="0">
            <a:off x="2129385" y="-2859528"/>
            <a:ext cx="3911463" cy="3911463"/>
            <a:chOff x="0" y="0"/>
            <a:chExt cx="812800" cy="812800"/>
          </a:xfrm>
        </p:grpSpPr>
        <p:sp>
          <p:nvSpPr>
            <p:cNvPr name="Freeform 12" id="12"/>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474646"/>
            </a:solidFill>
          </p:spPr>
        </p:sp>
        <p:sp>
          <p:nvSpPr>
            <p:cNvPr name="TextBox 13" id="13"/>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sp>
        <p:nvSpPr>
          <p:cNvPr name="Freeform 14" id="14"/>
          <p:cNvSpPr/>
          <p:nvPr/>
        </p:nvSpPr>
        <p:spPr>
          <a:xfrm flipH="false" flipV="false" rot="0">
            <a:off x="2057400" y="1316321"/>
            <a:ext cx="14337727" cy="9558485"/>
          </a:xfrm>
          <a:custGeom>
            <a:avLst/>
            <a:gdLst/>
            <a:ahLst/>
            <a:cxnLst/>
            <a:rect r="r" b="b" t="t" l="l"/>
            <a:pathLst>
              <a:path h="9558485" w="14337727">
                <a:moveTo>
                  <a:pt x="0" y="0"/>
                </a:moveTo>
                <a:lnTo>
                  <a:pt x="14337727" y="0"/>
                </a:lnTo>
                <a:lnTo>
                  <a:pt x="14337727" y="9558485"/>
                </a:lnTo>
                <a:lnTo>
                  <a:pt x="0" y="9558485"/>
                </a:lnTo>
                <a:lnTo>
                  <a:pt x="0" y="0"/>
                </a:lnTo>
                <a:close/>
              </a:path>
            </a:pathLst>
          </a:custGeom>
          <a:blipFill>
            <a:blip r:embed="rId4"/>
            <a:stretch>
              <a:fillRect l="0" t="0" r="0" b="0"/>
            </a:stretch>
          </a:blipFill>
        </p:spPr>
      </p:sp>
      <p:sp>
        <p:nvSpPr>
          <p:cNvPr name="TextBox 15" id="15"/>
          <p:cNvSpPr txBox="true"/>
          <p:nvPr/>
        </p:nvSpPr>
        <p:spPr>
          <a:xfrm rot="0">
            <a:off x="7101233" y="147203"/>
            <a:ext cx="4085534" cy="1169119"/>
          </a:xfrm>
          <a:prstGeom prst="rect">
            <a:avLst/>
          </a:prstGeom>
        </p:spPr>
        <p:txBody>
          <a:bodyPr anchor="t" rtlCol="false" tIns="0" lIns="0" bIns="0" rIns="0">
            <a:spAutoFit/>
          </a:bodyPr>
          <a:lstStyle/>
          <a:p>
            <a:pPr algn="ctr">
              <a:lnSpc>
                <a:spcPts val="9514"/>
              </a:lnSpc>
            </a:pPr>
            <a:r>
              <a:rPr lang="en-US" sz="6796" b="true">
                <a:solidFill>
                  <a:srgbClr val="000000"/>
                </a:solidFill>
                <a:latin typeface="Canva Sans Bold"/>
                <a:ea typeface="Canva Sans Bold"/>
                <a:cs typeface="Canva Sans Bold"/>
                <a:sym typeface="Canva Sans Bold"/>
              </a:rPr>
              <a:t>EXAMPLE</a:t>
            </a:r>
          </a:p>
        </p:txBody>
      </p:sp>
    </p:spTree>
  </p:cSld>
  <p:clrMapOvr>
    <a:masterClrMapping/>
  </p:clrMapOvr>
</p:sld>
</file>

<file path=ppt/slides/slide24.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A6A6A6">
                <a:alpha val="100000"/>
              </a:srgbClr>
            </a:gs>
            <a:gs pos="100000">
              <a:srgbClr val="FFFFFF">
                <a:alpha val="100000"/>
              </a:srgbClr>
            </a:gs>
          </a:gsLst>
          <a:lin ang="0"/>
        </a:gradFill>
      </p:bgPr>
    </p:bg>
    <p:spTree>
      <p:nvGrpSpPr>
        <p:cNvPr id="1" name=""/>
        <p:cNvGrpSpPr/>
        <p:nvPr/>
      </p:nvGrpSpPr>
      <p:grpSpPr>
        <a:xfrm>
          <a:off x="0" y="0"/>
          <a:ext cx="0" cy="0"/>
          <a:chOff x="0" y="0"/>
          <a:chExt cx="0" cy="0"/>
        </a:xfrm>
      </p:grpSpPr>
      <p:sp>
        <p:nvSpPr>
          <p:cNvPr name="Freeform 2" id="2"/>
          <p:cNvSpPr/>
          <p:nvPr/>
        </p:nvSpPr>
        <p:spPr>
          <a:xfrm flipH="false" flipV="false" rot="0">
            <a:off x="-2057400" y="-1258963"/>
            <a:ext cx="4114800" cy="4114800"/>
          </a:xfrm>
          <a:custGeom>
            <a:avLst/>
            <a:gdLst/>
            <a:ahLst/>
            <a:cxnLst/>
            <a:rect r="r" b="b" t="t" l="l"/>
            <a:pathLst>
              <a:path h="4114800" w="4114800">
                <a:moveTo>
                  <a:pt x="0" y="0"/>
                </a:moveTo>
                <a:lnTo>
                  <a:pt x="4114800" y="0"/>
                </a:lnTo>
                <a:lnTo>
                  <a:pt x="4114800"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702233" y="-903796"/>
            <a:ext cx="3404467" cy="3404467"/>
          </a:xfrm>
          <a:custGeom>
            <a:avLst/>
            <a:gdLst/>
            <a:ahLst/>
            <a:cxnLst/>
            <a:rect r="r" b="b" t="t" l="l"/>
            <a:pathLst>
              <a:path h="3404467" w="3404467">
                <a:moveTo>
                  <a:pt x="0" y="0"/>
                </a:moveTo>
                <a:lnTo>
                  <a:pt x="3404466" y="0"/>
                </a:lnTo>
                <a:lnTo>
                  <a:pt x="3404466" y="3404466"/>
                </a:lnTo>
                <a:lnTo>
                  <a:pt x="0" y="340446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16230600" y="7200900"/>
            <a:ext cx="4114800" cy="4114800"/>
          </a:xfrm>
          <a:custGeom>
            <a:avLst/>
            <a:gdLst/>
            <a:ahLst/>
            <a:cxnLst/>
            <a:rect r="r" b="b" t="t" l="l"/>
            <a:pathLst>
              <a:path h="4114800" w="4114800">
                <a:moveTo>
                  <a:pt x="0" y="0"/>
                </a:moveTo>
                <a:lnTo>
                  <a:pt x="4114800" y="0"/>
                </a:lnTo>
                <a:lnTo>
                  <a:pt x="4114800"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0">
            <a:off x="16585767" y="7556067"/>
            <a:ext cx="3404467" cy="3404467"/>
          </a:xfrm>
          <a:custGeom>
            <a:avLst/>
            <a:gdLst/>
            <a:ahLst/>
            <a:cxnLst/>
            <a:rect r="r" b="b" t="t" l="l"/>
            <a:pathLst>
              <a:path h="3404467" w="3404467">
                <a:moveTo>
                  <a:pt x="0" y="0"/>
                </a:moveTo>
                <a:lnTo>
                  <a:pt x="3404466" y="0"/>
                </a:lnTo>
                <a:lnTo>
                  <a:pt x="3404466" y="3404466"/>
                </a:lnTo>
                <a:lnTo>
                  <a:pt x="0" y="340446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6" id="6"/>
          <p:cNvGrpSpPr/>
          <p:nvPr/>
        </p:nvGrpSpPr>
        <p:grpSpPr>
          <a:xfrm rot="0">
            <a:off x="12319137" y="9258300"/>
            <a:ext cx="3911463" cy="3911463"/>
            <a:chOff x="0" y="0"/>
            <a:chExt cx="812800" cy="812800"/>
          </a:xfrm>
        </p:grpSpPr>
        <p:sp>
          <p:nvSpPr>
            <p:cNvPr name="Freeform 7" id="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474646"/>
            </a:solidFill>
          </p:spPr>
        </p:sp>
        <p:sp>
          <p:nvSpPr>
            <p:cNvPr name="TextBox 8" id="8"/>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sp>
        <p:nvSpPr>
          <p:cNvPr name="Freeform 9" id="9"/>
          <p:cNvSpPr/>
          <p:nvPr/>
        </p:nvSpPr>
        <p:spPr>
          <a:xfrm flipH="false" flipV="false" rot="0">
            <a:off x="16998733" y="7969033"/>
            <a:ext cx="2578533" cy="2578533"/>
          </a:xfrm>
          <a:custGeom>
            <a:avLst/>
            <a:gdLst/>
            <a:ahLst/>
            <a:cxnLst/>
            <a:rect r="r" b="b" t="t" l="l"/>
            <a:pathLst>
              <a:path h="2578533" w="2578533">
                <a:moveTo>
                  <a:pt x="0" y="0"/>
                </a:moveTo>
                <a:lnTo>
                  <a:pt x="2578534" y="0"/>
                </a:lnTo>
                <a:lnTo>
                  <a:pt x="2578534" y="2578534"/>
                </a:lnTo>
                <a:lnTo>
                  <a:pt x="0" y="257853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0" id="10"/>
          <p:cNvSpPr/>
          <p:nvPr/>
        </p:nvSpPr>
        <p:spPr>
          <a:xfrm flipH="false" flipV="false" rot="0">
            <a:off x="-1289267" y="-490830"/>
            <a:ext cx="2578533" cy="2578533"/>
          </a:xfrm>
          <a:custGeom>
            <a:avLst/>
            <a:gdLst/>
            <a:ahLst/>
            <a:cxnLst/>
            <a:rect r="r" b="b" t="t" l="l"/>
            <a:pathLst>
              <a:path h="2578533" w="2578533">
                <a:moveTo>
                  <a:pt x="0" y="0"/>
                </a:moveTo>
                <a:lnTo>
                  <a:pt x="2578534" y="0"/>
                </a:lnTo>
                <a:lnTo>
                  <a:pt x="2578534" y="2578534"/>
                </a:lnTo>
                <a:lnTo>
                  <a:pt x="0" y="257853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11" id="11"/>
          <p:cNvGrpSpPr/>
          <p:nvPr/>
        </p:nvGrpSpPr>
        <p:grpSpPr>
          <a:xfrm rot="0">
            <a:off x="2129385" y="-2859528"/>
            <a:ext cx="3911463" cy="3911463"/>
            <a:chOff x="0" y="0"/>
            <a:chExt cx="812800" cy="812800"/>
          </a:xfrm>
        </p:grpSpPr>
        <p:sp>
          <p:nvSpPr>
            <p:cNvPr name="Freeform 12" id="12"/>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474646"/>
            </a:solidFill>
          </p:spPr>
        </p:sp>
        <p:sp>
          <p:nvSpPr>
            <p:cNvPr name="TextBox 13" id="13"/>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sp>
        <p:nvSpPr>
          <p:cNvPr name="TextBox 14" id="14"/>
          <p:cNvSpPr txBox="true"/>
          <p:nvPr/>
        </p:nvSpPr>
        <p:spPr>
          <a:xfrm rot="0">
            <a:off x="-631127" y="2848498"/>
            <a:ext cx="19550253" cy="4238657"/>
          </a:xfrm>
          <a:prstGeom prst="rect">
            <a:avLst/>
          </a:prstGeom>
        </p:spPr>
        <p:txBody>
          <a:bodyPr anchor="t" rtlCol="false" tIns="0" lIns="0" bIns="0" rIns="0">
            <a:spAutoFit/>
          </a:bodyPr>
          <a:lstStyle/>
          <a:p>
            <a:pPr algn="ctr">
              <a:lnSpc>
                <a:spcPts val="34673"/>
              </a:lnSpc>
            </a:pPr>
            <a:r>
              <a:rPr lang="en-US" b="true" sz="24767">
                <a:solidFill>
                  <a:srgbClr val="000000"/>
                </a:solidFill>
                <a:latin typeface="Proxima Nova Bold"/>
                <a:ea typeface="Proxima Nova Bold"/>
                <a:cs typeface="Proxima Nova Bold"/>
                <a:sym typeface="Proxima Nova Bold"/>
              </a:rPr>
              <a:t>THANK YOU</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DAGz5neq67c</dc:identifier>
  <dcterms:modified xsi:type="dcterms:W3CDTF">2011-08-01T06:04:30Z</dcterms:modified>
  <cp:revision>1</cp:revision>
  <dc:title>data mining report</dc:title>
</cp:coreProperties>
</file>